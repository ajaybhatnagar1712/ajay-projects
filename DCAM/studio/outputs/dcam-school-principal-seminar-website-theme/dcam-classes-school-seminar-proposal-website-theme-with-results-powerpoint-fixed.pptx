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642BD1D-04BA-4AC2-A285-A4A74D076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8B396B4-6669-4533-B426-EB0FA0DEB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2F9349-48F8-48EB-999E-21BE60243D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38A466-4806-4FE2-9BBF-35E8B0E9E0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E161C5D-1865-42E3-BBF2-4460F2EA722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B783D-D439-4966-A894-768EB2FD8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A4B6C2-8799-4199-AC76-FBF08BE33444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F72A8E-1703-4520-B75D-C584BB2E9499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98AE1E-53A0-4624-B1E5-AA58F3CD4EB1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3A2E9-30A2-4A08-93F6-2EF9D35848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CA46E-3A1E-4147-97A6-32F881EFBFF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31661-F538-42E2-A995-2BF3624F8AD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A9E2C9-0A38-4786-883E-354F7399498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PROPOSAL FOR SCHOOL SEMINAR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BDB5C-F737-4040-995B-59588742627A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55245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Proposal To Conduct A</a:t>
            </a:r>
          </a:p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Student Seminar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67983D-49A4-4395-8B62-2A4EA10EB25B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5715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A short and practical session to help students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understand competitive exams, smart preparation, and</a:t>
            </a:r>
          </a:p>
          <a:p>
            <a:pPr algn="l">
              <a:defRPr sz="1500" b="0">
                <a:solidFill>
                  <a:srgbClr val="C7D8E8"/>
                </a:solidFill>
              </a:defRPr>
            </a:pPr>
            <a:r>
              <a:rPr sz="1500" b="0">
                <a:solidFill>
                  <a:srgbClr val="C7D8E8"/>
                </a:solidFill>
              </a:rPr>
              <a:t>how DCAM Classes can support them.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1CB73B-F0A4-408C-831F-EBC417F963EA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095750" cy="1962150"/>
          </a:xfrm>
          <a:prstGeom prst="roundRect">
            <a:avLst>
              <a:gd name="adj" fmla="val 3883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046117-013C-4BDA-A51C-88C97562C263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Seminar Focus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D4891E-943D-4C13-8879-65A2ACA63648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3524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Academic awareness for students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Simple introduction to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structured preparation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Clear understanding of what DCAM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offers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100A91-ABA6-4AAB-83ED-825C646CAD2A}"/>
              </a:ext>
            </a:extLst>
          </p:cNvPr>
          <p:cNvSpPr>
            <a:spLocks noGrp="1"/>
          </p:cNvSpPr>
          <p:nvPr/>
        </p:nvSpPr>
        <p:spPr>
          <a:xfrm>
            <a:off x="7486650" y="914400"/>
            <a:ext cx="4000500" cy="4476750"/>
          </a:xfrm>
          <a:prstGeom prst="roundRect">
            <a:avLst>
              <a:gd name="adj" fmla="val 1905"/>
            </a:avLst>
          </a:prstGeom>
          <a:solidFill>
            <a:srgbClr val="0B1B2B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72450" y="1342476"/>
            <a:ext cx="2571750" cy="23632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5206789-27E2-4CD2-95B3-3A0DB6B60BF1}"/>
              </a:ext>
            </a:extLst>
          </p:cNvPr>
          <p:cNvSpPr>
            <a:spLocks noGrp="1"/>
          </p:cNvSpPr>
          <p:nvPr/>
        </p:nvSpPr>
        <p:spPr>
          <a:xfrm>
            <a:off x="8001000" y="4019550"/>
            <a:ext cx="295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DCAM Classes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8BA792-3835-47CC-BD0F-86AEF9D0DA75}"/>
              </a:ext>
            </a:extLst>
          </p:cNvPr>
          <p:cNvSpPr>
            <a:spLocks noGrp="1"/>
          </p:cNvSpPr>
          <p:nvPr/>
        </p:nvSpPr>
        <p:spPr>
          <a:xfrm>
            <a:off x="8039100" y="4457700"/>
            <a:ext cx="2876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Online platform for courses,</a:t>
            </a:r>
          </a:p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live batches, mock tests,</a:t>
            </a:r>
          </a:p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practice, and student</a:t>
            </a:r>
          </a:p>
          <a:p>
            <a:pPr algn="ctr">
              <a:defRPr sz="1125" b="0">
                <a:solidFill>
                  <a:srgbClr val="C7D8E8"/>
                </a:solidFill>
              </a:defRPr>
            </a:pPr>
            <a:r>
              <a:rPr sz="1125" b="0">
                <a:solidFill>
                  <a:srgbClr val="C7D8E8"/>
                </a:solidFill>
              </a:rPr>
              <a:t>guidance.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469485-ADBF-4728-9421-E0639AD92E0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3D4146-B1DE-461F-9481-DA629373F165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47265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>
            <a:noFill/>
          </a:ln>
        </p:spPr>
      </p:sp>
      <p:sp>
        <p:nvSpPr>
          <p:cNvPr id="3" name="oval-left"/>
          <p:cNvSpPr/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>
            <a:noFill/>
          </a:ln>
        </p:spPr>
      </p:sp>
      <p:sp>
        <p:nvSpPr>
          <p:cNvPr id="4" name="oval-top"/>
          <p:cNvSpPr/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>
            <a:noFill/>
          </a:ln>
        </p:spPr>
      </p:sp>
      <p:sp>
        <p:nvSpPr>
          <p:cNvPr id="5" name="oval-bottom"/>
          <p:cNvSpPr/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>
            <a:noFill/>
          </a:ln>
        </p:spPr>
      </p:sp>
      <p:sp>
        <p:nvSpPr>
          <p:cNvPr id="6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/>
          </a:solidFill>
          <a:ln>
            <a:noFill/>
          </a:ln>
        </p:spPr>
      </p:sp>
      <p:sp>
        <p:nvSpPr>
          <p:cNvPr id="7" name="top-rule"/>
          <p:cNvSpPr/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8" name="bottom-rule"/>
          <p:cNvSpPr/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>
            <a:noFill/>
          </a:ln>
        </p:spPr>
      </p:sp>
      <p:sp>
        <p:nvSpPr>
          <p:cNvPr id="9" name="slide-number"/>
          <p:cNvSpPr/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950" b="1">
                <a:solidFill>
                  <a:srgbClr val="EAF7FF"/>
                </a:solidFill>
                <a:latin typeface="Aptos"/>
              </a:defRPr>
            </a:pPr>
            <a:r>
              <a:rPr sz="950" b="1">
                <a:solidFill>
                  <a:srgbClr val="EAF7FF"/>
                </a:solidFill>
                <a:latin typeface="Aptos"/>
              </a:rPr>
              <a:t>02 / 10</a:t>
            </a:r>
          </a:p>
        </p:txBody>
      </p:sp>
      <p:sp>
        <p:nvSpPr>
          <p:cNvPr id="10" name="logo-frame"/>
          <p:cNvSpPr/>
          <p:nvPr/>
        </p:nvSpPr>
        <p:spPr>
          <a:xfrm>
            <a:off x="10306050" y="590550"/>
            <a:ext cx="990600" cy="990600"/>
          </a:xfrm>
          <a:prstGeom prst="roundRect">
            <a:avLst>
              <a:gd name="adj" fmla="val 8000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1" name="DCA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714375"/>
            <a:ext cx="800100" cy="733425"/>
          </a:xfrm>
          <a:prstGeom prst="rect">
            <a:avLst/>
          </a:prstGeom>
        </p:spPr>
      </p:pic>
      <p:sp>
        <p:nvSpPr>
          <p:cNvPr id="12" name="site"/>
          <p:cNvSpPr/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dcamclasses.in</a:t>
            </a:r>
          </a:p>
        </p:txBody>
      </p:sp>
      <p:sp>
        <p:nvSpPr>
          <p:cNvPr id="13" name="footer"/>
          <p:cNvSpPr/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DCAM Classes Seminar Proposal</a:t>
            </a:r>
          </a:p>
        </p:txBody>
      </p:sp>
      <p:sp>
        <p:nvSpPr>
          <p:cNvPr id="14" name="eyebrow"/>
          <p:cNvSpPr/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1">
                <a:solidFill>
                  <a:srgbClr val="73D8FF"/>
                </a:solidFill>
                <a:latin typeface="Aptos"/>
              </a:defRPr>
            </a:pPr>
            <a:r>
              <a:rPr sz="950" b="1">
                <a:solidFill>
                  <a:srgbClr val="73D8FF"/>
                </a:solidFill>
                <a:latin typeface="Aptos"/>
              </a:rPr>
              <a:t>EXAMS COVERED</a:t>
            </a:r>
          </a:p>
        </p:txBody>
      </p:sp>
      <p:sp>
        <p:nvSpPr>
          <p:cNvPr id="15" name="title"/>
          <p:cNvSpPr/>
          <p:nvPr/>
        </p:nvSpPr>
        <p:spPr>
          <a:xfrm>
            <a:off x="781050" y="1066800"/>
            <a:ext cx="7239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Competitive Exams Covered</a:t>
            </a:r>
          </a:p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In The Seminar</a:t>
            </a:r>
          </a:p>
        </p:txBody>
      </p:sp>
      <p:sp>
        <p:nvSpPr>
          <p:cNvPr id="16" name="subtitle"/>
          <p:cNvSpPr/>
          <p:nvPr/>
        </p:nvSpPr>
        <p:spPr>
          <a:xfrm>
            <a:off x="781050" y="2171700"/>
            <a:ext cx="7905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400" b="0">
                <a:solidFill>
                  <a:srgbClr val="C8D8E4"/>
                </a:solidFill>
                <a:latin typeface="Aptos"/>
              </a:defRPr>
            </a:pPr>
            <a:r>
              <a:rPr sz="1400" b="0">
                <a:solidFill>
                  <a:srgbClr val="C8D8E4"/>
                </a:solidFill>
                <a:latin typeface="Aptos"/>
              </a:rPr>
              <a:t>A clean overview of major entrance exams students should know before they choose a preparation path.</a:t>
            </a:r>
          </a:p>
        </p:txBody>
      </p:sp>
      <p:sp>
        <p:nvSpPr>
          <p:cNvPr id="17" name="National Engineering"/>
          <p:cNvSpPr/>
          <p:nvPr/>
        </p:nvSpPr>
        <p:spPr>
          <a:xfrm>
            <a:off x="685800" y="2819400"/>
            <a:ext cx="5105400" cy="135255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8" name="accent"/>
          <p:cNvSpPr/>
          <p:nvPr/>
        </p:nvSpPr>
        <p:spPr>
          <a:xfrm>
            <a:off x="685800" y="2819400"/>
            <a:ext cx="510540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19" name="group-label"/>
          <p:cNvSpPr/>
          <p:nvPr/>
        </p:nvSpPr>
        <p:spPr>
          <a:xfrm>
            <a:off x="914400" y="3028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National Engineering</a:t>
            </a:r>
          </a:p>
        </p:txBody>
      </p:sp>
      <p:sp>
        <p:nvSpPr>
          <p:cNvPr id="20" name="exam-chip"/>
          <p:cNvSpPr/>
          <p:nvPr/>
        </p:nvSpPr>
        <p:spPr>
          <a:xfrm>
            <a:off x="914400" y="3409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21" name="exam-name"/>
          <p:cNvSpPr/>
          <p:nvPr/>
        </p:nvSpPr>
        <p:spPr>
          <a:xfrm>
            <a:off x="1009650" y="3467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JEE Main</a:t>
            </a:r>
          </a:p>
        </p:txBody>
      </p:sp>
      <p:sp>
        <p:nvSpPr>
          <p:cNvPr id="22" name="exam-chip"/>
          <p:cNvSpPr/>
          <p:nvPr/>
        </p:nvSpPr>
        <p:spPr>
          <a:xfrm>
            <a:off x="2495550" y="3409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23" name="exam-name"/>
          <p:cNvSpPr/>
          <p:nvPr/>
        </p:nvSpPr>
        <p:spPr>
          <a:xfrm>
            <a:off x="2590800" y="3467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JEE Advanced</a:t>
            </a:r>
          </a:p>
        </p:txBody>
      </p:sp>
      <p:sp>
        <p:nvSpPr>
          <p:cNvPr id="24" name="exam-chip"/>
          <p:cNvSpPr/>
          <p:nvPr/>
        </p:nvSpPr>
        <p:spPr>
          <a:xfrm>
            <a:off x="4057650" y="3409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25" name="exam-name"/>
          <p:cNvSpPr/>
          <p:nvPr/>
        </p:nvSpPr>
        <p:spPr>
          <a:xfrm>
            <a:off x="4171950" y="3467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 dirty="0">
                <a:solidFill>
                  <a:srgbClr val="F4FAFF"/>
                </a:solidFill>
                <a:latin typeface="Aptos"/>
              </a:rPr>
              <a:t>BITSAT</a:t>
            </a:r>
          </a:p>
        </p:txBody>
      </p:sp>
      <p:sp>
        <p:nvSpPr>
          <p:cNvPr id="26" name="University Engineering"/>
          <p:cNvSpPr/>
          <p:nvPr/>
        </p:nvSpPr>
        <p:spPr>
          <a:xfrm>
            <a:off x="6400800" y="2819400"/>
            <a:ext cx="5105400" cy="135255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7" name="accent"/>
          <p:cNvSpPr/>
          <p:nvPr/>
        </p:nvSpPr>
        <p:spPr>
          <a:xfrm>
            <a:off x="6400800" y="2819400"/>
            <a:ext cx="5105400" cy="47625"/>
          </a:xfrm>
          <a:prstGeom prst="rect">
            <a:avLst/>
          </a:prstGeom>
          <a:solidFill>
            <a:srgbClr val="4CB6FF"/>
          </a:solidFill>
          <a:ln>
            <a:noFill/>
          </a:ln>
        </p:spPr>
      </p:sp>
      <p:sp>
        <p:nvSpPr>
          <p:cNvPr id="28" name="group-label"/>
          <p:cNvSpPr/>
          <p:nvPr/>
        </p:nvSpPr>
        <p:spPr>
          <a:xfrm>
            <a:off x="6629400" y="3028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University Engineering</a:t>
            </a:r>
          </a:p>
        </p:txBody>
      </p:sp>
      <p:sp>
        <p:nvSpPr>
          <p:cNvPr id="29" name="exam-chip"/>
          <p:cNvSpPr/>
          <p:nvPr/>
        </p:nvSpPr>
        <p:spPr>
          <a:xfrm>
            <a:off x="6629400" y="3409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0" name="exam-name"/>
          <p:cNvSpPr/>
          <p:nvPr/>
        </p:nvSpPr>
        <p:spPr>
          <a:xfrm>
            <a:off x="6724650" y="3467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VITEEE</a:t>
            </a:r>
          </a:p>
        </p:txBody>
      </p:sp>
      <p:sp>
        <p:nvSpPr>
          <p:cNvPr id="31" name="exam-chip"/>
          <p:cNvSpPr/>
          <p:nvPr/>
        </p:nvSpPr>
        <p:spPr>
          <a:xfrm>
            <a:off x="9010650" y="3409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2" name="exam-name"/>
          <p:cNvSpPr/>
          <p:nvPr/>
        </p:nvSpPr>
        <p:spPr>
          <a:xfrm>
            <a:off x="9105900" y="3467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SRMJEEE</a:t>
            </a:r>
          </a:p>
        </p:txBody>
      </p:sp>
      <p:sp>
        <p:nvSpPr>
          <p:cNvPr id="33" name="exam-chip"/>
          <p:cNvSpPr/>
          <p:nvPr/>
        </p:nvSpPr>
        <p:spPr>
          <a:xfrm>
            <a:off x="6629400" y="381000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4" name="exam-name"/>
          <p:cNvSpPr/>
          <p:nvPr/>
        </p:nvSpPr>
        <p:spPr>
          <a:xfrm>
            <a:off x="6724650" y="386715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MET</a:t>
            </a:r>
          </a:p>
        </p:txBody>
      </p:sp>
      <p:sp>
        <p:nvSpPr>
          <p:cNvPr id="35" name="exam-chip"/>
          <p:cNvSpPr/>
          <p:nvPr/>
        </p:nvSpPr>
        <p:spPr>
          <a:xfrm>
            <a:off x="9010650" y="381000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36" name="exam-name"/>
          <p:cNvSpPr/>
          <p:nvPr/>
        </p:nvSpPr>
        <p:spPr>
          <a:xfrm>
            <a:off x="9105900" y="386715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KIITEE</a:t>
            </a:r>
          </a:p>
        </p:txBody>
      </p:sp>
      <p:sp>
        <p:nvSpPr>
          <p:cNvPr id="37" name="State &amp; CET Exams"/>
          <p:cNvSpPr/>
          <p:nvPr/>
        </p:nvSpPr>
        <p:spPr>
          <a:xfrm>
            <a:off x="685800" y="4343400"/>
            <a:ext cx="5105400" cy="144780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8" name="accent"/>
          <p:cNvSpPr/>
          <p:nvPr/>
        </p:nvSpPr>
        <p:spPr>
          <a:xfrm>
            <a:off x="685800" y="4343400"/>
            <a:ext cx="5105400" cy="47625"/>
          </a:xfrm>
          <a:prstGeom prst="rect">
            <a:avLst/>
          </a:prstGeom>
          <a:solidFill>
            <a:srgbClr val="2F6CFF"/>
          </a:solidFill>
          <a:ln>
            <a:noFill/>
          </a:ln>
        </p:spPr>
      </p:sp>
      <p:sp>
        <p:nvSpPr>
          <p:cNvPr id="39" name="group-label"/>
          <p:cNvSpPr/>
          <p:nvPr/>
        </p:nvSpPr>
        <p:spPr>
          <a:xfrm>
            <a:off x="914400" y="4552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State &amp; CET Exams</a:t>
            </a:r>
          </a:p>
        </p:txBody>
      </p:sp>
      <p:sp>
        <p:nvSpPr>
          <p:cNvPr id="40" name="exam-chip"/>
          <p:cNvSpPr/>
          <p:nvPr/>
        </p:nvSpPr>
        <p:spPr>
          <a:xfrm>
            <a:off x="914400" y="4933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1" name="exam-name"/>
          <p:cNvSpPr/>
          <p:nvPr/>
        </p:nvSpPr>
        <p:spPr>
          <a:xfrm>
            <a:off x="1009650" y="4991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WBJEE</a:t>
            </a:r>
          </a:p>
        </p:txBody>
      </p:sp>
      <p:sp>
        <p:nvSpPr>
          <p:cNvPr id="42" name="exam-chip"/>
          <p:cNvSpPr/>
          <p:nvPr/>
        </p:nvSpPr>
        <p:spPr>
          <a:xfrm>
            <a:off x="2495550" y="4933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3" name="exam-name"/>
          <p:cNvSpPr/>
          <p:nvPr/>
        </p:nvSpPr>
        <p:spPr>
          <a:xfrm>
            <a:off x="2590800" y="4991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MHT CET</a:t>
            </a:r>
          </a:p>
        </p:txBody>
      </p:sp>
      <p:sp>
        <p:nvSpPr>
          <p:cNvPr id="44" name="exam-chip"/>
          <p:cNvSpPr/>
          <p:nvPr/>
        </p:nvSpPr>
        <p:spPr>
          <a:xfrm>
            <a:off x="4076700" y="493395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5" name="exam-name"/>
          <p:cNvSpPr/>
          <p:nvPr/>
        </p:nvSpPr>
        <p:spPr>
          <a:xfrm>
            <a:off x="4171950" y="499110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 dirty="0">
                <a:solidFill>
                  <a:srgbClr val="F4FAFF"/>
                </a:solidFill>
                <a:latin typeface="Aptos"/>
              </a:rPr>
              <a:t>KCET</a:t>
            </a:r>
          </a:p>
        </p:txBody>
      </p:sp>
      <p:sp>
        <p:nvSpPr>
          <p:cNvPr id="46" name="exam-chip"/>
          <p:cNvSpPr/>
          <p:nvPr/>
        </p:nvSpPr>
        <p:spPr>
          <a:xfrm>
            <a:off x="914400" y="533400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7" name="exam-name"/>
          <p:cNvSpPr/>
          <p:nvPr/>
        </p:nvSpPr>
        <p:spPr>
          <a:xfrm>
            <a:off x="1009650" y="539115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COMEDK UGET</a:t>
            </a:r>
          </a:p>
        </p:txBody>
      </p:sp>
      <p:sp>
        <p:nvSpPr>
          <p:cNvPr id="48" name="exam-chip"/>
          <p:cNvSpPr/>
          <p:nvPr/>
        </p:nvSpPr>
        <p:spPr>
          <a:xfrm>
            <a:off x="2495550" y="533400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49" name="exam-name"/>
          <p:cNvSpPr/>
          <p:nvPr/>
        </p:nvSpPr>
        <p:spPr>
          <a:xfrm>
            <a:off x="2590800" y="539115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 dirty="0">
                <a:solidFill>
                  <a:srgbClr val="F4FAFF"/>
                </a:solidFill>
                <a:latin typeface="Aptos"/>
              </a:rPr>
              <a:t>AP EAPCET</a:t>
            </a:r>
          </a:p>
        </p:txBody>
      </p:sp>
      <p:sp>
        <p:nvSpPr>
          <p:cNvPr id="50" name="exam-chip"/>
          <p:cNvSpPr/>
          <p:nvPr/>
        </p:nvSpPr>
        <p:spPr>
          <a:xfrm>
            <a:off x="4076700" y="5334000"/>
            <a:ext cx="14668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51" name="exam-name"/>
          <p:cNvSpPr/>
          <p:nvPr/>
        </p:nvSpPr>
        <p:spPr>
          <a:xfrm>
            <a:off x="4171950" y="5391150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TS EAMCET</a:t>
            </a:r>
          </a:p>
        </p:txBody>
      </p:sp>
      <p:sp>
        <p:nvSpPr>
          <p:cNvPr id="52" name="Other Important Entrances"/>
          <p:cNvSpPr/>
          <p:nvPr/>
        </p:nvSpPr>
        <p:spPr>
          <a:xfrm>
            <a:off x="6400800" y="4343400"/>
            <a:ext cx="5105400" cy="135255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53" name="accent"/>
          <p:cNvSpPr/>
          <p:nvPr/>
        </p:nvSpPr>
        <p:spPr>
          <a:xfrm>
            <a:off x="6400800" y="4343400"/>
            <a:ext cx="5105400" cy="47625"/>
          </a:xfrm>
          <a:prstGeom prst="rect">
            <a:avLst/>
          </a:prstGeom>
          <a:solidFill>
            <a:srgbClr val="8DEBFF"/>
          </a:solidFill>
          <a:ln>
            <a:noFill/>
          </a:ln>
        </p:spPr>
      </p:sp>
      <p:sp>
        <p:nvSpPr>
          <p:cNvPr id="54" name="group-label"/>
          <p:cNvSpPr/>
          <p:nvPr/>
        </p:nvSpPr>
        <p:spPr>
          <a:xfrm>
            <a:off x="6629400" y="455295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600" b="1">
                <a:solidFill>
                  <a:srgbClr val="73D8FF"/>
                </a:solidFill>
                <a:latin typeface="Aptos"/>
              </a:defRPr>
            </a:pPr>
            <a:r>
              <a:rPr sz="1600" b="1">
                <a:solidFill>
                  <a:srgbClr val="73D8FF"/>
                </a:solidFill>
                <a:latin typeface="Aptos"/>
              </a:rPr>
              <a:t>Other Important Entrances</a:t>
            </a:r>
          </a:p>
        </p:txBody>
      </p:sp>
      <p:sp>
        <p:nvSpPr>
          <p:cNvPr id="55" name="exam-chip"/>
          <p:cNvSpPr/>
          <p:nvPr/>
        </p:nvSpPr>
        <p:spPr>
          <a:xfrm>
            <a:off x="6629400" y="4933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56" name="exam-name"/>
          <p:cNvSpPr/>
          <p:nvPr/>
        </p:nvSpPr>
        <p:spPr>
          <a:xfrm>
            <a:off x="6724650" y="4991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CUET</a:t>
            </a:r>
          </a:p>
        </p:txBody>
      </p:sp>
      <p:sp>
        <p:nvSpPr>
          <p:cNvPr id="57" name="exam-chip"/>
          <p:cNvSpPr/>
          <p:nvPr/>
        </p:nvSpPr>
        <p:spPr>
          <a:xfrm>
            <a:off x="9010650" y="4933950"/>
            <a:ext cx="226695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58" name="exam-name"/>
          <p:cNvSpPr/>
          <p:nvPr/>
        </p:nvSpPr>
        <p:spPr>
          <a:xfrm>
            <a:off x="9105900" y="499110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4FAFF"/>
                </a:solidFill>
                <a:latin typeface="Aptos"/>
              </a:defRPr>
            </a:pPr>
            <a:r>
              <a:rPr sz="1350" b="1">
                <a:solidFill>
                  <a:srgbClr val="F4FAFF"/>
                </a:solidFill>
                <a:latin typeface="Aptos"/>
              </a:rPr>
              <a:t>NEET</a:t>
            </a:r>
          </a:p>
        </p:txBody>
      </p:sp>
      <p:sp>
        <p:nvSpPr>
          <p:cNvPr id="59" name="exam-chip"/>
          <p:cNvSpPr/>
          <p:nvPr/>
        </p:nvSpPr>
        <p:spPr>
          <a:xfrm>
            <a:off x="6629400" y="5334000"/>
            <a:ext cx="4648200" cy="30480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24445E"/>
            </a:solidFill>
            <a:prstDash val="solid"/>
          </a:ln>
        </p:spPr>
      </p:sp>
      <p:sp>
        <p:nvSpPr>
          <p:cNvPr id="60" name="exam-name"/>
          <p:cNvSpPr/>
          <p:nvPr/>
        </p:nvSpPr>
        <p:spPr>
          <a:xfrm>
            <a:off x="6724650" y="5391150"/>
            <a:ext cx="44577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defRPr sz="1150" b="1">
                <a:solidFill>
                  <a:srgbClr val="F4FAFF"/>
                </a:solidFill>
                <a:latin typeface="Aptos"/>
              </a:defRPr>
            </a:pPr>
            <a:r>
              <a:rPr sz="1150" b="1" dirty="0">
                <a:solidFill>
                  <a:srgbClr val="F4FAFF"/>
                </a:solidFill>
                <a:latin typeface="Aptos"/>
              </a:rPr>
              <a:t>Other Engineering Exams</a:t>
            </a:r>
          </a:p>
        </p:txBody>
      </p:sp>
      <p:sp>
        <p:nvSpPr>
          <p:cNvPr id="61" name="note-box"/>
          <p:cNvSpPr/>
          <p:nvPr/>
        </p:nvSpPr>
        <p:spPr>
          <a:xfrm>
            <a:off x="685800" y="5829300"/>
            <a:ext cx="10820400" cy="24765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62" name="note"/>
          <p:cNvSpPr/>
          <p:nvPr/>
        </p:nvSpPr>
        <p:spPr>
          <a:xfrm>
            <a:off x="857250" y="5895975"/>
            <a:ext cx="1047750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30" b="0">
                <a:solidFill>
                  <a:srgbClr val="B8CAD7"/>
                </a:solidFill>
                <a:latin typeface="Aptos"/>
              </a:defRPr>
            </a:pPr>
            <a:r>
              <a:rPr sz="830" b="0">
                <a:solidFill>
                  <a:srgbClr val="B8CAD7"/>
                </a:solidFill>
                <a:latin typeface="Aptos"/>
              </a:rPr>
              <a:t>The seminar helps students understand exam options, preparation direction, and where structured guidance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>
            <a:noFill/>
          </a:ln>
        </p:spPr>
      </p:sp>
      <p:sp>
        <p:nvSpPr>
          <p:cNvPr id="3" name="oval-left"/>
          <p:cNvSpPr/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>
            <a:noFill/>
          </a:ln>
        </p:spPr>
      </p:sp>
      <p:sp>
        <p:nvSpPr>
          <p:cNvPr id="4" name="oval-top"/>
          <p:cNvSpPr/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>
            <a:noFill/>
          </a:ln>
        </p:spPr>
      </p:sp>
      <p:sp>
        <p:nvSpPr>
          <p:cNvPr id="5" name="oval-bottom"/>
          <p:cNvSpPr/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>
            <a:noFill/>
          </a:ln>
        </p:spPr>
      </p:sp>
      <p:sp>
        <p:nvSpPr>
          <p:cNvPr id="6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/>
          </a:solidFill>
          <a:ln>
            <a:noFill/>
          </a:ln>
        </p:spPr>
      </p:sp>
      <p:sp>
        <p:nvSpPr>
          <p:cNvPr id="7" name="top-rule"/>
          <p:cNvSpPr/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8" name="bottom-rule"/>
          <p:cNvSpPr/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>
            <a:noFill/>
          </a:ln>
        </p:spPr>
      </p:sp>
      <p:sp>
        <p:nvSpPr>
          <p:cNvPr id="9" name="slide-number"/>
          <p:cNvSpPr/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950" b="1">
                <a:solidFill>
                  <a:srgbClr val="EAF7FF"/>
                </a:solidFill>
                <a:latin typeface="Aptos"/>
              </a:defRPr>
            </a:pPr>
            <a:r>
              <a:rPr sz="950" b="1">
                <a:solidFill>
                  <a:srgbClr val="EAF7FF"/>
                </a:solidFill>
                <a:latin typeface="Aptos"/>
              </a:rPr>
              <a:t>03 / 10</a:t>
            </a:r>
          </a:p>
        </p:txBody>
      </p:sp>
      <p:sp>
        <p:nvSpPr>
          <p:cNvPr id="10" name="logo-frame"/>
          <p:cNvSpPr/>
          <p:nvPr/>
        </p:nvSpPr>
        <p:spPr>
          <a:xfrm>
            <a:off x="10306050" y="590550"/>
            <a:ext cx="990600" cy="990600"/>
          </a:xfrm>
          <a:prstGeom prst="roundRect">
            <a:avLst>
              <a:gd name="adj" fmla="val 8000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1" name="DCA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714375"/>
            <a:ext cx="800100" cy="733425"/>
          </a:xfrm>
          <a:prstGeom prst="rect">
            <a:avLst/>
          </a:prstGeom>
        </p:spPr>
      </p:pic>
      <p:sp>
        <p:nvSpPr>
          <p:cNvPr id="12" name="site"/>
          <p:cNvSpPr/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dcamclasses.in</a:t>
            </a:r>
          </a:p>
        </p:txBody>
      </p:sp>
      <p:sp>
        <p:nvSpPr>
          <p:cNvPr id="13" name="footer"/>
          <p:cNvSpPr/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defRPr sz="800" b="0">
                <a:solidFill>
                  <a:srgbClr val="8AA6B8"/>
                </a:solidFill>
                <a:latin typeface="Aptos"/>
              </a:defRPr>
            </a:pPr>
            <a:r>
              <a:rPr sz="800" b="0">
                <a:solidFill>
                  <a:srgbClr val="8AA6B8"/>
                </a:solidFill>
                <a:latin typeface="Aptos"/>
              </a:rPr>
              <a:t>DCAM Classes Seminar Proposal</a:t>
            </a:r>
          </a:p>
        </p:txBody>
      </p:sp>
      <p:sp>
        <p:nvSpPr>
          <p:cNvPr id="14" name="eyebrow"/>
          <p:cNvSpPr/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1">
                <a:solidFill>
                  <a:srgbClr val="73D8FF"/>
                </a:solidFill>
                <a:latin typeface="Aptos"/>
              </a:defRPr>
            </a:pPr>
            <a:r>
              <a:rPr sz="950" b="1">
                <a:solidFill>
                  <a:srgbClr val="73D8FF"/>
                </a:solidFill>
                <a:latin typeface="Aptos"/>
              </a:rPr>
              <a:t>STUDENT RESULT PROOF</a:t>
            </a:r>
          </a:p>
        </p:txBody>
      </p:sp>
      <p:sp>
        <p:nvSpPr>
          <p:cNvPr id="15" name="title"/>
          <p:cNvSpPr/>
          <p:nvPr/>
        </p:nvSpPr>
        <p:spPr>
          <a:xfrm>
            <a:off x="781050" y="1066800"/>
            <a:ext cx="7239000" cy="781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DCAM Students Are Producing</a:t>
            </a:r>
          </a:p>
          <a:p>
            <a:pPr algn="l">
              <a:defRPr sz="2900" b="1">
                <a:solidFill>
                  <a:srgbClr val="F4FAFF"/>
                </a:solidFill>
                <a:latin typeface="Aptos"/>
              </a:defRPr>
            </a:pPr>
            <a:r>
              <a:rPr sz="2900" b="1">
                <a:solidFill>
                  <a:srgbClr val="F4FAFF"/>
                </a:solidFill>
                <a:latin typeface="Aptos"/>
              </a:rPr>
              <a:t>JEE Main Results</a:t>
            </a:r>
          </a:p>
        </p:txBody>
      </p:sp>
      <p:sp>
        <p:nvSpPr>
          <p:cNvPr id="16" name="subtitle"/>
          <p:cNvSpPr/>
          <p:nvPr/>
        </p:nvSpPr>
        <p:spPr>
          <a:xfrm>
            <a:off x="781050" y="2171700"/>
            <a:ext cx="8096250" cy="419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400" b="0">
                <a:solidFill>
                  <a:srgbClr val="C8D8E4"/>
                </a:solidFill>
                <a:latin typeface="Aptos"/>
              </a:defRPr>
            </a:pPr>
            <a:r>
              <a:rPr sz="1400" b="0">
                <a:solidFill>
                  <a:srgbClr val="C8D8E4"/>
                </a:solidFill>
                <a:latin typeface="Aptos"/>
              </a:rPr>
              <a:t>Recent JEE Main 2026 outcomes from students studying at DCAM Classes, added as proof for the school seminar proposal.</a:t>
            </a:r>
          </a:p>
        </p:txBody>
      </p:sp>
      <p:sp>
        <p:nvSpPr>
          <p:cNvPr id="17" name="result-card"/>
          <p:cNvSpPr/>
          <p:nvPr/>
        </p:nvSpPr>
        <p:spPr>
          <a:xfrm>
            <a:off x="685800" y="2857500"/>
            <a:ext cx="5105400" cy="281940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8" name="result-accent"/>
          <p:cNvSpPr/>
          <p:nvPr/>
        </p:nvSpPr>
        <p:spPr>
          <a:xfrm>
            <a:off x="685800" y="2857500"/>
            <a:ext cx="5105400" cy="47625"/>
          </a:xfrm>
          <a:prstGeom prst="rect">
            <a:avLst/>
          </a:prstGeom>
          <a:solidFill>
            <a:srgbClr val="73D8FF"/>
          </a:solidFill>
          <a:ln>
            <a:noFill/>
          </a:ln>
        </p:spPr>
      </p:sp>
      <p:sp>
        <p:nvSpPr>
          <p:cNvPr id="19" name="student-name"/>
          <p:cNvSpPr/>
          <p:nvPr/>
        </p:nvSpPr>
        <p:spPr>
          <a:xfrm>
            <a:off x="914400" y="310515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3D8FF"/>
                </a:solidFill>
                <a:latin typeface="Aptos"/>
              </a:defRPr>
            </a:pPr>
            <a:r>
              <a:rPr sz="1800" b="1">
                <a:solidFill>
                  <a:srgbClr val="73D8FF"/>
                </a:solidFill>
                <a:latin typeface="Aptos"/>
              </a:rPr>
              <a:t>LUVYA SURI</a:t>
            </a:r>
          </a:p>
        </p:txBody>
      </p:sp>
      <p:sp>
        <p:nvSpPr>
          <p:cNvPr id="20" name="score"/>
          <p:cNvSpPr/>
          <p:nvPr/>
        </p:nvSpPr>
        <p:spPr>
          <a:xfrm>
            <a:off x="914400" y="36004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</a:rPr>
              <a:t>93.911</a:t>
            </a:r>
          </a:p>
        </p:txBody>
      </p:sp>
      <p:sp>
        <p:nvSpPr>
          <p:cNvPr id="21" name="score-label"/>
          <p:cNvSpPr/>
          <p:nvPr/>
        </p:nvSpPr>
        <p:spPr>
          <a:xfrm>
            <a:off x="952500" y="4010025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0">
                <a:solidFill>
                  <a:srgbClr val="CFE0EA"/>
                </a:solidFill>
                <a:latin typeface="Aptos"/>
              </a:defRPr>
            </a:pPr>
            <a:r>
              <a:rPr sz="950" b="0">
                <a:solidFill>
                  <a:srgbClr val="CFE0EA"/>
                </a:solidFill>
                <a:latin typeface="Aptos"/>
              </a:rPr>
              <a:t>Final NTA Score</a:t>
            </a:r>
          </a:p>
        </p:txBody>
      </p:sp>
      <p:sp>
        <p:nvSpPr>
          <p:cNvPr id="22" name="rank-label"/>
          <p:cNvSpPr/>
          <p:nvPr/>
        </p:nvSpPr>
        <p:spPr>
          <a:xfrm>
            <a:off x="3467100" y="3486150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3D8FF"/>
                </a:solidFill>
                <a:latin typeface="Aptos"/>
              </a:defRPr>
            </a:pPr>
            <a:r>
              <a:rPr sz="1050" b="1">
                <a:solidFill>
                  <a:srgbClr val="73D8FF"/>
                </a:solidFill>
                <a:latin typeface="Aptos"/>
              </a:rPr>
              <a:t>AIR (CRL)</a:t>
            </a:r>
          </a:p>
        </p:txBody>
      </p:sp>
      <p:sp>
        <p:nvSpPr>
          <p:cNvPr id="23" name="rank"/>
          <p:cNvSpPr/>
          <p:nvPr/>
        </p:nvSpPr>
        <p:spPr>
          <a:xfrm>
            <a:off x="3467100" y="377190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94,953</a:t>
            </a:r>
          </a:p>
        </p:txBody>
      </p:sp>
      <p:sp>
        <p:nvSpPr>
          <p:cNvPr id="24" name="eligible"/>
          <p:cNvSpPr/>
          <p:nvPr/>
        </p:nvSpPr>
        <p:spPr>
          <a:xfrm>
            <a:off x="3467100" y="4114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150" b="1">
                <a:solidFill>
                  <a:srgbClr val="CDE0EA"/>
                </a:solidFill>
                <a:latin typeface="Aptos"/>
              </a:defRPr>
            </a:pPr>
            <a:r>
              <a:rPr sz="1150" b="1">
                <a:solidFill>
                  <a:srgbClr val="CDE0EA"/>
                </a:solidFill>
                <a:latin typeface="Aptos"/>
              </a:rPr>
              <a:t>Eligible for JEE Advanced</a:t>
            </a:r>
          </a:p>
        </p:txBody>
      </p:sp>
      <p:sp>
        <p:nvSpPr>
          <p:cNvPr id="25" name="score-image-frame"/>
          <p:cNvSpPr/>
          <p:nvPr/>
        </p:nvSpPr>
        <p:spPr>
          <a:xfrm>
            <a:off x="914400" y="4305300"/>
            <a:ext cx="4648200" cy="990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B9C7D0"/>
            </a:solidFill>
            <a:prstDash val="solid"/>
          </a:ln>
        </p:spPr>
      </p:sp>
      <p:pic>
        <p:nvPicPr>
          <p:cNvPr id="26" name="LUVYA SURI score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4419600"/>
            <a:ext cx="4457700" cy="742950"/>
          </a:xfrm>
          <a:prstGeom prst="rect">
            <a:avLst/>
          </a:prstGeom>
        </p:spPr>
      </p:pic>
      <p:sp>
        <p:nvSpPr>
          <p:cNvPr id="27" name="caption"/>
          <p:cNvSpPr/>
          <p:nvPr/>
        </p:nvSpPr>
        <p:spPr>
          <a:xfrm>
            <a:off x="914400" y="5410200"/>
            <a:ext cx="46482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8FA6B8"/>
                </a:solidFill>
                <a:latin typeface="Aptos"/>
              </a:defRPr>
            </a:pPr>
            <a:r>
              <a:rPr sz="820" b="0">
                <a:solidFill>
                  <a:srgbClr val="8FA6B8"/>
                </a:solidFill>
                <a:latin typeface="Aptos"/>
              </a:rPr>
              <a:t>JEE Main 2026 Session 2 score table</a:t>
            </a:r>
          </a:p>
        </p:txBody>
      </p:sp>
      <p:sp>
        <p:nvSpPr>
          <p:cNvPr id="28" name="result-card"/>
          <p:cNvSpPr/>
          <p:nvPr/>
        </p:nvSpPr>
        <p:spPr>
          <a:xfrm>
            <a:off x="6400800" y="2857500"/>
            <a:ext cx="5105400" cy="2819400"/>
          </a:xfrm>
          <a:prstGeom prst="roundRect">
            <a:avLst>
              <a:gd name="adj" fmla="val 8000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9" name="result-accent"/>
          <p:cNvSpPr/>
          <p:nvPr/>
        </p:nvSpPr>
        <p:spPr>
          <a:xfrm>
            <a:off x="6400800" y="2857500"/>
            <a:ext cx="5105400" cy="47625"/>
          </a:xfrm>
          <a:prstGeom prst="rect">
            <a:avLst/>
          </a:prstGeom>
          <a:solidFill>
            <a:srgbClr val="2F6CFF"/>
          </a:solidFill>
          <a:ln>
            <a:noFill/>
          </a:ln>
        </p:spPr>
      </p:sp>
      <p:sp>
        <p:nvSpPr>
          <p:cNvPr id="30" name="student-name"/>
          <p:cNvSpPr/>
          <p:nvPr/>
        </p:nvSpPr>
        <p:spPr>
          <a:xfrm>
            <a:off x="6629400" y="3105150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3D8FF"/>
                </a:solidFill>
                <a:latin typeface="Aptos"/>
              </a:defRPr>
            </a:pPr>
            <a:r>
              <a:rPr sz="1800" b="1">
                <a:solidFill>
                  <a:srgbClr val="73D8FF"/>
                </a:solidFill>
                <a:latin typeface="Aptos"/>
              </a:rPr>
              <a:t>ARCHISMAN CHAKRABARTI</a:t>
            </a:r>
          </a:p>
        </p:txBody>
      </p:sp>
      <p:sp>
        <p:nvSpPr>
          <p:cNvPr id="31" name="score"/>
          <p:cNvSpPr/>
          <p:nvPr/>
        </p:nvSpPr>
        <p:spPr>
          <a:xfrm>
            <a:off x="6629400" y="36004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</a:rPr>
              <a:t>95.700</a:t>
            </a:r>
          </a:p>
        </p:txBody>
      </p:sp>
      <p:sp>
        <p:nvSpPr>
          <p:cNvPr id="32" name="score-label"/>
          <p:cNvSpPr/>
          <p:nvPr/>
        </p:nvSpPr>
        <p:spPr>
          <a:xfrm>
            <a:off x="6667500" y="4010025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950" b="0">
                <a:solidFill>
                  <a:srgbClr val="CFE0EA"/>
                </a:solidFill>
                <a:latin typeface="Aptos"/>
              </a:defRPr>
            </a:pPr>
            <a:r>
              <a:rPr sz="950" b="0">
                <a:solidFill>
                  <a:srgbClr val="CFE0EA"/>
                </a:solidFill>
                <a:latin typeface="Aptos"/>
              </a:rPr>
              <a:t>Final NTA Score</a:t>
            </a:r>
          </a:p>
        </p:txBody>
      </p:sp>
      <p:sp>
        <p:nvSpPr>
          <p:cNvPr id="33" name="rank-label"/>
          <p:cNvSpPr/>
          <p:nvPr/>
        </p:nvSpPr>
        <p:spPr>
          <a:xfrm>
            <a:off x="9182100" y="3486150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3D8FF"/>
                </a:solidFill>
                <a:latin typeface="Aptos"/>
              </a:defRPr>
            </a:pPr>
            <a:r>
              <a:rPr sz="1050" b="1">
                <a:solidFill>
                  <a:srgbClr val="73D8FF"/>
                </a:solidFill>
                <a:latin typeface="Aptos"/>
              </a:rPr>
              <a:t>AIR (CRL)</a:t>
            </a:r>
          </a:p>
        </p:txBody>
      </p:sp>
      <p:sp>
        <p:nvSpPr>
          <p:cNvPr id="34" name="rank"/>
          <p:cNvSpPr/>
          <p:nvPr/>
        </p:nvSpPr>
        <p:spPr>
          <a:xfrm>
            <a:off x="9182100" y="377190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67,680</a:t>
            </a:r>
          </a:p>
        </p:txBody>
      </p:sp>
      <p:sp>
        <p:nvSpPr>
          <p:cNvPr id="35" name="eligible"/>
          <p:cNvSpPr/>
          <p:nvPr/>
        </p:nvSpPr>
        <p:spPr>
          <a:xfrm>
            <a:off x="9182100" y="41148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1150" b="1">
                <a:solidFill>
                  <a:srgbClr val="CDE0EA"/>
                </a:solidFill>
                <a:latin typeface="Aptos"/>
              </a:defRPr>
            </a:pPr>
            <a:r>
              <a:rPr sz="1150" b="1">
                <a:solidFill>
                  <a:srgbClr val="CDE0EA"/>
                </a:solidFill>
                <a:latin typeface="Aptos"/>
              </a:rPr>
              <a:t>Eligible for JEE Advanced</a:t>
            </a:r>
          </a:p>
        </p:txBody>
      </p:sp>
      <p:sp>
        <p:nvSpPr>
          <p:cNvPr id="36" name="score-image-frame"/>
          <p:cNvSpPr/>
          <p:nvPr/>
        </p:nvSpPr>
        <p:spPr>
          <a:xfrm>
            <a:off x="6629400" y="4305300"/>
            <a:ext cx="4648200" cy="990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B9C7D0"/>
            </a:solidFill>
            <a:prstDash val="solid"/>
          </a:ln>
        </p:spPr>
      </p:sp>
      <p:pic>
        <p:nvPicPr>
          <p:cNvPr id="37" name="ARCHISMAN CHAKRABARTI score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419600"/>
            <a:ext cx="4457700" cy="742950"/>
          </a:xfrm>
          <a:prstGeom prst="rect">
            <a:avLst/>
          </a:prstGeom>
        </p:spPr>
      </p:pic>
      <p:sp>
        <p:nvSpPr>
          <p:cNvPr id="38" name="caption"/>
          <p:cNvSpPr/>
          <p:nvPr/>
        </p:nvSpPr>
        <p:spPr>
          <a:xfrm>
            <a:off x="6629400" y="5410200"/>
            <a:ext cx="46482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8FA6B8"/>
                </a:solidFill>
                <a:latin typeface="Aptos"/>
              </a:defRPr>
            </a:pPr>
            <a:r>
              <a:rPr sz="820" b="0">
                <a:solidFill>
                  <a:srgbClr val="8FA6B8"/>
                </a:solidFill>
                <a:latin typeface="Aptos"/>
              </a:rPr>
              <a:t>JEE Main 2026 Session 2 score table</a:t>
            </a:r>
          </a:p>
        </p:txBody>
      </p:sp>
      <p:sp>
        <p:nvSpPr>
          <p:cNvPr id="39" name="note-box"/>
          <p:cNvSpPr/>
          <p:nvPr/>
        </p:nvSpPr>
        <p:spPr>
          <a:xfrm>
            <a:off x="685800" y="5791200"/>
            <a:ext cx="10820400" cy="285750"/>
          </a:xfrm>
          <a:prstGeom prst="roundRect">
            <a:avLst>
              <a:gd name="adj" fmla="val 8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0" name="note"/>
          <p:cNvSpPr/>
          <p:nvPr/>
        </p:nvSpPr>
        <p:spPr>
          <a:xfrm>
            <a:off x="857250" y="5876925"/>
            <a:ext cx="1047750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B8CAD7"/>
                </a:solidFill>
                <a:latin typeface="Aptos"/>
              </a:defRPr>
            </a:pPr>
            <a:r>
              <a:rPr sz="850" b="0">
                <a:solidFill>
                  <a:srgbClr val="B8CAD7"/>
                </a:solidFill>
                <a:latin typeface="Aptos"/>
              </a:rPr>
              <a:t>Score sections are shown for readability; original result screenshots can be provided by DCAM if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13DCD3-5F4A-4C94-B378-0B6AA2A5BA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B2E7F2-58BF-4B9E-822E-90D3D983B1C0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247EBC-4713-482E-8706-1D60445C3F10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2A72ED-BD69-411F-938F-E07A81F3F8B3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0318D-BBB9-4AC8-8A13-6CA0911BB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661BB4-AAE3-4D44-A762-9242C4E0A97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A088A-E2DD-422C-B8A7-A61B65A3A18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E4D4ED-41C7-4AD8-8E90-45F2A1F1A15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WHY THIS SEMINAR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41ED00-ACC8-448E-B93B-8E1094D4527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04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59B2B4-23C7-4A7A-8E3B-DCEAE7EC6F66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5ADC26A-AEA2-4763-941E-FD5FE5400AD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Why This Seminar Matters For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Students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436C75-9302-4120-ACDD-4D60219FBA1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often know they want to prepare, but they do not always know where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to start or how to stay consistent.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358A53-5086-4081-899F-59EC059CA937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41826-1395-4EEC-8097-D622F0F62495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CFBD71-02C0-449A-B128-4235683C5F6F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9ACCB9-D4B8-4C8B-B0CC-B76DFF881C9F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5C3C4-23FF-46BC-BB24-89F29C2A11D8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Exam Awareness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21526-9531-4768-A19D-347E881A54A5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get a clearer idea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of exam paths, preparation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stages, and the value of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starting early.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C2134E-D3BF-4119-A7BE-35A1088758E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DB37A6-3180-4705-BDA7-B8362CDA7BBA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E2AB302-4D42-4CD6-8DE9-17C63AB5F5FB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41328E-999C-44CB-ABA5-EAB73E80D9B2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14DC51-914A-4D64-AB69-EBC26E729606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Right Direction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41376B-BDAF-4FFF-9ABA-36CFEF0B9A57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They understand how learning,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practice, mock tests,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guidance fit into one proper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plan.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DA3257-B2E6-4790-8A6F-1A888A8E15B7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C02187-B7F0-4282-91A7-275E73516E58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D6463C-F49E-4BA6-9F88-71218A08F371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4992B6-97D1-44D3-9270-49A7D72330BD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07E75A-933C-4BA2-8199-209198C3187B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Better Motivation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D02AD2-9B6E-4A29-A2E1-844768D79DC6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 focused seminar can improve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seriousness, confidence,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preparation discipline.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6F92C99-EF3D-40F9-B193-857DFC793CE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13B230-A3E1-41F3-983D-3DDCF66664DA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The seminar is simple, informative, and useful for students at the school level.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F5CFD4-0829-4541-8C99-020FC69DF44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958766-DFF7-4BC8-A82F-DBA882368036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09976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1D2CBE-6A04-44E8-85C1-FA32FF166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4D0B0D-8791-4048-8E21-7A193B102135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853D07-7BB9-46D9-ADC4-D1C7F9F1B3E1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DD3CE0-ECC8-4819-AE04-324BE90CAAE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CACC3-B4C8-4AF4-AD67-7726CEFDFE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84237-B6DB-4B38-A9F8-B11E4508EA6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A303F-A5F3-4B9E-96A2-621D83F320A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32B9C-A316-4C4E-A4C2-8B54643115C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DCAM STUDENT OFFERING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CE985C-D3F3-4FB3-BDC9-AC4FE029982D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05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224386-94CC-467C-840E-00B7C29D7C55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AC1E6DF-A311-4E3E-A445-9A7633E9980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96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Everything DCAM Classes Offers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 Student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BFE8F6-5156-4B41-A31C-429CF72F679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DCAM brings the full preparation journey into one connected platform so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do not have to manage learning through scattered tools.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1D84FC-651C-4779-A9AC-9E6FD20FA5A6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F30A9F-F06B-441E-A158-6FAD90D6177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319C16-6665-44CE-928C-61818EF1C8A4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Courses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FE2A83-C282-4933-AEAE-09DDAC3E6083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DEF83E-980B-48A0-8AB6-C0F2CA559966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4965A8-241E-4675-B40D-8CD52677FFAD}"/>
              </a:ext>
            </a:extLst>
          </p:cNvPr>
          <p:cNvSpPr>
            <a:spLocks noGrp="1"/>
          </p:cNvSpPr>
          <p:nvPr/>
        </p:nvSpPr>
        <p:spPr>
          <a:xfrm>
            <a:off x="35814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Crash Courses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E54E3E-CB62-4B86-B4E0-4B2F4BCBB41B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150D20-36E5-44C3-ACAB-61E0EDFD44B0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279241-F459-49E0-A528-88F2996160C2}"/>
              </a:ext>
            </a:extLst>
          </p:cNvPr>
          <p:cNvSpPr>
            <a:spLocks noGrp="1"/>
          </p:cNvSpPr>
          <p:nvPr/>
        </p:nvSpPr>
        <p:spPr>
          <a:xfrm>
            <a:off x="63246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Live Batches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B1BE0D-F298-45AA-809F-EC48256DBB21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4C5A28-C48B-4F80-B93F-6015744B4DBD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F0F824-B520-4B7C-AE18-97D5B874F8AE}"/>
              </a:ext>
            </a:extLst>
          </p:cNvPr>
          <p:cNvSpPr>
            <a:spLocks noGrp="1"/>
          </p:cNvSpPr>
          <p:nvPr/>
        </p:nvSpPr>
        <p:spPr>
          <a:xfrm>
            <a:off x="9067800" y="32575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Practice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Sessions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30F7F1-1DF5-42A1-A713-12D1155FEB5C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E15CAC-9DB0-4CE6-8E9D-5D4085728047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E34186-072A-4488-9794-473F0BBDF708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Mock Tests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5FEC1BF-0682-4E52-BD96-F99FD3732B91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2BCC57-DB1E-406F-A660-2879FC667062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A91D5C-2965-4047-BB98-577E3AF59454}"/>
              </a:ext>
            </a:extLst>
          </p:cNvPr>
          <p:cNvSpPr>
            <a:spLocks noGrp="1"/>
          </p:cNvSpPr>
          <p:nvPr/>
        </p:nvSpPr>
        <p:spPr>
          <a:xfrm>
            <a:off x="35814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Custom Mock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Tests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E3BE6C0-43E3-4DC1-B27C-54DBE1FF0F0C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C9C7C3-375F-4A63-A09E-88807B824AD6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F15CC1-619D-4834-98BC-8E641BC1F5F5}"/>
              </a:ext>
            </a:extLst>
          </p:cNvPr>
          <p:cNvSpPr>
            <a:spLocks noGrp="1"/>
          </p:cNvSpPr>
          <p:nvPr/>
        </p:nvSpPr>
        <p:spPr>
          <a:xfrm>
            <a:off x="63246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Find Teachers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57B1794-445C-4BA2-B132-73F59F3BC5E9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40D905-BD5C-410B-9EE2-D6247011D015}"/>
              </a:ext>
            </a:extLst>
          </p:cNvPr>
          <p:cNvSpPr>
            <a:spLocks noGrp="1"/>
          </p:cNvSpPr>
          <p:nvPr/>
        </p:nvSpPr>
        <p:spPr>
          <a:xfrm>
            <a:off x="8915400" y="398145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C6F707-20BE-4F30-8B2B-BEE3CA8C575F}"/>
              </a:ext>
            </a:extLst>
          </p:cNvPr>
          <p:cNvSpPr>
            <a:spLocks noGrp="1"/>
          </p:cNvSpPr>
          <p:nvPr/>
        </p:nvSpPr>
        <p:spPr>
          <a:xfrm>
            <a:off x="9067800" y="419100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Doubts Support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44075D-152B-47E8-BE27-F8FAFBA9A592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A5E174-AAF7-4F97-8951-B146B326E94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BAF4E4-0EEE-46B6-8C14-49875994E740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Chat &amp;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Communication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C5DE9AF-D2DA-47C6-983A-BBA41844AEE1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6D9BCA-DB3A-411D-9D17-ED024A82968A}"/>
              </a:ext>
            </a:extLst>
          </p:cNvPr>
          <p:cNvSpPr>
            <a:spLocks noGrp="1"/>
          </p:cNvSpPr>
          <p:nvPr/>
        </p:nvSpPr>
        <p:spPr>
          <a:xfrm>
            <a:off x="3429000" y="4914900"/>
            <a:ext cx="2590800" cy="38100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4FA13B-1815-4BC7-8460-40E274A29888}"/>
              </a:ext>
            </a:extLst>
          </p:cNvPr>
          <p:cNvSpPr>
            <a:spLocks noGrp="1"/>
          </p:cNvSpPr>
          <p:nvPr/>
        </p:nvSpPr>
        <p:spPr>
          <a:xfrm>
            <a:off x="35814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Notice Board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2D6761C-1CE9-471D-868C-49AD65348B38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96355C-F495-4AB0-BEA4-EA80973E093B}"/>
              </a:ext>
            </a:extLst>
          </p:cNvPr>
          <p:cNvSpPr>
            <a:spLocks noGrp="1"/>
          </p:cNvSpPr>
          <p:nvPr/>
        </p:nvSpPr>
        <p:spPr>
          <a:xfrm>
            <a:off x="6172200" y="4914900"/>
            <a:ext cx="2590800" cy="38100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19CFB2-5A56-4F26-A9DE-97ACE675AAA2}"/>
              </a:ext>
            </a:extLst>
          </p:cNvPr>
          <p:cNvSpPr>
            <a:spLocks noGrp="1"/>
          </p:cNvSpPr>
          <p:nvPr/>
        </p:nvSpPr>
        <p:spPr>
          <a:xfrm>
            <a:off x="63246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Exam Bulletin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90F902E-6C67-4ED0-B44A-2E1B1E33EF2A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781050"/>
          </a:xfrm>
          <a:prstGeom prst="roundRect">
            <a:avLst>
              <a:gd name="adj" fmla="val 9756"/>
            </a:avLst>
          </a:prstGeom>
          <a:solidFill>
            <a:srgbClr val="10253A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070DB4-87C5-49C9-8B1C-5DEFD645FED4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590800" cy="38100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683522-DD2E-4A5C-A3AA-100110BC4D26}"/>
              </a:ext>
            </a:extLst>
          </p:cNvPr>
          <p:cNvSpPr>
            <a:spLocks noGrp="1"/>
          </p:cNvSpPr>
          <p:nvPr/>
        </p:nvSpPr>
        <p:spPr>
          <a:xfrm>
            <a:off x="9067800" y="5124450"/>
            <a:ext cx="2286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Dashboard &amp;</a:t>
            </a:r>
          </a:p>
          <a:p>
            <a:pPr algn="l">
              <a:defRPr sz="1200" b="1">
                <a:solidFill>
                  <a:srgbClr val="F7FBFF"/>
                </a:solidFill>
              </a:defRPr>
            </a:pPr>
            <a:r>
              <a:rPr sz="1200" b="1">
                <a:solidFill>
                  <a:srgbClr val="F7FBFF"/>
                </a:solidFill>
              </a:rPr>
              <a:t>Progress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D42779B-E0F4-4157-BD78-F1C9B24764CB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BAEBF2E-4F52-4FDD-BD12-47CE7231BADD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This is the full student ecosystem that can be introduced during the seminar.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F6FE02-3556-49F1-9837-20563CF4B04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9B67512-7F3C-49C5-8CB1-4B796CE8F964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69958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E4F1A8-7773-41A7-8309-370E5DCD8F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8E242AE-5AD3-464A-BC8E-ADA9EF1AE203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F46BB8-53F0-45D6-800B-014204AE5F68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6952AE-240E-4324-9AD6-ED0A630B5B10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D7826-A42A-4EF7-AE00-550219F9D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BD13FC-F43A-450C-A398-BFD6A0DB2CA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91DC9C-514E-46F7-A614-5171CF8CC280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2A489-C10C-40AE-9E56-EF6610059FD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LEARNING OPTIONS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178301-DCA8-4A76-8DCC-C5A024001B4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06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FDFFEA-D4D0-479F-BD71-7DF8C6606C49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4E27B48-BCAD-49B5-8027-4D294E0F79F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Structured Learning Options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For Students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36019B-0D05-48F6-B38F-A39C2FD38796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DCAM supports different study formats so students can continue learning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according to their level and schedule.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9B3FCA-A083-43D2-8FA3-C9BDCDD1E3D9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9A61CE-4A0F-408B-B33B-5F72E525B8F3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35C8A3-93C1-4774-8A3B-50B6E21708D0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AB79D6-36BE-4E5F-9B06-4CF9290587C2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09D38-D9D0-4E71-B581-31FC1A08B2DF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Courses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A65DA5-6D69-4C6A-BB69-2413BC7CF098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continue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structured courses from one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place through My Learning.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4701AA-E9AB-4D4E-8BF9-A767C94CAF4C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919A87-EFDE-443B-AD2D-88DE1761DF28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6FACEC-C346-4CA0-B66E-06C8234AD77F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960D5A-D9E1-44D1-913F-574E50E13C5D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6D3B80-F4D3-40CA-BC00-E60705F12FA1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Crash Courses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5CC1D8-2982-47ED-9506-196AA87213DC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Short revision-focused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programs help students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prepare quickly before exams.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45BE913-96A9-4794-AD03-76D5A9E4AC6C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1A1836-3A17-40A9-97F3-499E16A8A436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D4C356-CF06-43E3-B310-0894141B4A7E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8219D9-70F8-4B5A-BB24-C83B36D78302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CBE452-F020-4607-B81C-5C0EC17F84F1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Live Batches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4DF73A-95FC-4C50-92F6-D745086415FC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Teacher-led batches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scheduled sessions support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discipline and continuity.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D0DE576-CA9C-4E62-A741-6060B8868C8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F6820E-4177-4F58-873A-87AB849A19E0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Students get both guided learning and flexible revision support.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94B448-029E-4CC7-8154-76C77687B44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53D95E-D160-4855-9BAD-68132C27B0AA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43949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2AE84F-2E12-4646-8362-570B1F3776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1A5A87-88A6-4229-9B4A-974F297D043F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563D28-3F91-416B-8A40-408C920117AF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9B876C-25EF-435C-B6E7-BCB5EC809498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18B30-7A31-46B9-B3D1-DF0CD7DBB3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9C20D3-7EBF-4C90-AE8B-D30CC60FFE2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64DA6-AAA2-400F-A68D-2CF40AA669B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839CA-A27E-4E32-9AFC-F0799051202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PRACTICE &amp; TESTS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E8460-7FF5-4370-A6A1-3F0B4D03D5F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07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6D3A51-5BD7-4C44-A904-603B49A79B06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57F32E-FBC2-42E9-8F0B-2A8F3BF7E80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Practice And Testing Tools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That Build Exam Confidence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478FD9-B639-4666-AC31-04078A559ABF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DCAM helps students practise regularly and also prepare in an exam-style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environment.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FB5D96-4C36-4C0C-B208-CE145B8841A3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72C00-3CD6-4DF0-ACC4-E1EABE8D9875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FCFE26-FD06-472A-AED3-78319E3C6903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789853-2C5C-4222-AFC9-D703E8356C09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69A235-6AB3-4DFC-94A9-63B01A9800B0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Practice Sessions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C4542E-E674-4D4B-8BCC-06799CB6546D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start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topic-based practice sessions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from the DCAM question bank.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7F39D7-070D-4F8F-98E7-DC792D021A3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AEB6EF-CB1A-40DA-91E3-EBB6D6229C5C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C1795A2-977C-4A14-B6D5-7631059256C9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0E0FEB-EF09-4022-9CA0-2B749F7BE0B4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F6856B-2DC1-4993-90B9-284EDD74D43B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Mock Tests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D84261-90F7-4145-BBA9-0D20EC992DDE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Teacher-created mock tests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support timed attempts,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review, and analysis.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4052746-542D-4598-A6FE-938111FEB60B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67D747-14FD-4FF6-9707-3F0F3B963874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3109DD-5548-45AA-B89D-3EC9903084C8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A75892-6A68-4ECC-AAE9-2A925AF99649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EC5BEA-D6CA-43C6-A35F-A7BC52321543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Custom Mock Tests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CFF698-D8D9-4C14-B8EC-FC7C4D186D65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create their own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mock tests according to exam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and subject needs.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8962E16-B595-4789-8146-3DE0BF0D3FFD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6244D9-B837-488A-A16B-1520ED930C90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This helps students improve consistency, accuracy, and test readiness.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DA4079-EF7D-499F-BBD6-354E5174570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8984DA-627F-4A0C-A3B3-FA0C1D144976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64738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3DC83-89D1-42E3-9F35-15EF47D320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CC6A47-EC07-4576-A877-BAD38CC333F8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8EAC86-8D85-4815-8943-387A447B8A13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6F3CBA-A6F1-4C02-883F-D721F7E9CCB2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6AAE2-7285-4A38-BE82-64381A1BEC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B3ACF3-78D7-477E-86AB-E37B78589EC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8F3A8-3DE8-49DD-AEB3-2B0A960EBB7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60981-9E0B-4E25-981D-83CECEEFF60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GUIDANCE &amp;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B69F98-90E7-43B6-AFF5-CEAD03DC9D17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08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F0A907-34DC-49A9-9738-F5F0B1A0821C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83781F-F6A8-4D4B-91FC-A417C6DA0A49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Guidance, Communication, And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Updates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9C6C92-FD07-4E15-9E90-D329A1CE15CD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Students prepare better when they can ask questions, connect with teachers,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and stay updated on important academic information.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19049C-5887-4A0A-8DB4-8CFE5390207F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DAABA-0944-4651-AE1E-4735F8A51DFE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E5320D-E6E9-4A5F-8127-4D07779F3E78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5E8F43-CAA2-477D-9420-53BE20C79CFF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CE0930-23FB-43AC-ADAD-3799ACA65122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Find Teachers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53933B-6AD9-45A6-860F-3CE1324F4029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discover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teachers according to exam,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curriculum, and subject fit.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BF1DAB-00C3-4C6C-9532-0890ACE92078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AABEE-5068-4DB2-B1C7-21944C39B55C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B8BE99-C265-45C4-AD4F-9543B566F9F2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1820A0-9A87-449A-9F79-AFEF9815113B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B6A2F7-B6AC-4FC5-B1F7-F79F8B0ACAAD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Doubts And Chat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35410B-27B8-464F-9088-092AE079276D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They can ask doubts and stay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connected through in-platform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communication.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EFAEC19-2E19-44FC-BEED-D4298B3375BB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672AEB-A94F-431C-9C4B-3B354C565AB3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7116186-EEB2-4391-B1D7-28F56929FB41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FE4EE6-D821-4F7B-BC0D-9B5992D1CA56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F125B0-879E-4119-BCB4-C7D5FEF25316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Notice Board &amp;</a:t>
            </a:r>
          </a:p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Bulletin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CB4A58-C7D5-4571-9A23-03D01519E595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 can track important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notices, deadlines, and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exam-related updates.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30662A4-4182-4BB2-B79F-59A5D43B762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B6E2D0-33D4-4087-B844-B13F43E2447B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DCAM supports students beyond content by keeping guidance and information in reach.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5E9A31-2ACD-4BBC-AF36-7411EEB4863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146A20-E778-4A47-A489-B2AB5F40B004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311417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07F875-177A-419C-ACF1-1504FE57A8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E228C5-4F81-43EF-AC14-6A9EC89CC9D2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3BA763-231F-4DEF-833C-D425014E3AF2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CDD97B-BAFC-4BC9-B02D-60858B7CEF65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838948-898B-4992-A925-9C2BD9C8FF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29D365-7758-4F2F-976B-073A4D9A41B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40B75-4AAE-4287-8419-2BDA91C34D60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4C5B7F-2368-41A3-8E3F-63D16EAC04C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SEMINAR FORMAT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46A13D-F277-4A08-88DC-97559E43A748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09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248262-AC50-4381-8A57-F5026C8A612C}"/>
              </a:ext>
            </a:extLst>
          </p:cNvPr>
          <p:cNvSpPr>
            <a:spLocks noGrp="1"/>
          </p:cNvSpPr>
          <p:nvPr/>
        </p:nvSpPr>
        <p:spPr>
          <a:xfrm>
            <a:off x="10267950" y="571500"/>
            <a:ext cx="1066800" cy="1066800"/>
          </a:xfrm>
          <a:prstGeom prst="roundRect">
            <a:avLst>
              <a:gd name="adj" fmla="val 7143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63200" y="702264"/>
            <a:ext cx="876300" cy="8052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3986FB9-32CF-4F1C-8B1C-758DCE2BE50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Simple Seminar Format For The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School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030E25-F222-43A9-B133-D00AC55358A5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The session can be hosted easily without disturbing the academic schedule.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903566-1698-4654-85B0-CD319905DC44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3FA0BC-C878-4E76-9C02-69228A80CED9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47980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D79342-9635-4D00-872E-2D2BB06EB20E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3B1283-DA78-4B8A-B510-3F2F28238D4A}"/>
              </a:ext>
            </a:extLst>
          </p:cNvPr>
          <p:cNvSpPr>
            <a:spLocks noGrp="1"/>
          </p:cNvSpPr>
          <p:nvPr/>
        </p:nvSpPr>
        <p:spPr>
          <a:xfrm>
            <a:off x="9810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73D8FF"/>
                </a:solidFill>
              </a:defRPr>
            </a:pPr>
            <a:r>
              <a:rPr sz="975" b="1">
                <a:solidFill>
                  <a:srgbClr val="73D8FF"/>
                </a:solidFill>
              </a:rPr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F92C35-5746-49D7-9E89-B3A1215ADD1C}"/>
              </a:ext>
            </a:extLst>
          </p:cNvPr>
          <p:cNvSpPr>
            <a:spLocks noGrp="1"/>
          </p:cNvSpPr>
          <p:nvPr/>
        </p:nvSpPr>
        <p:spPr>
          <a:xfrm>
            <a:off x="13906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Duration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101E91-4BB5-4CCD-B288-98D8F11FB182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 45 to 60 minute session is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enough for awareness,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explanation, and Q and A.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D77E74-32CE-49FE-ABD1-E51104B565B1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69E078-1D98-472F-B66F-A6A0598B245F}"/>
              </a:ext>
            </a:extLst>
          </p:cNvPr>
          <p:cNvSpPr>
            <a:spLocks noGrp="1"/>
          </p:cNvSpPr>
          <p:nvPr/>
        </p:nvSpPr>
        <p:spPr>
          <a:xfrm>
            <a:off x="4356100" y="3067050"/>
            <a:ext cx="3479800" cy="47625"/>
          </a:xfrm>
          <a:prstGeom prst="rect">
            <a:avLst/>
          </a:prstGeom>
          <a:solidFill>
            <a:srgbClr val="4CB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D6B0C3-BA9E-4A2B-AC83-FAC061E27849}"/>
              </a:ext>
            </a:extLst>
          </p:cNvPr>
          <p:cNvSpPr>
            <a:spLocks noGrp="1"/>
          </p:cNvSpPr>
          <p:nvPr/>
        </p:nvSpPr>
        <p:spPr>
          <a:xfrm>
            <a:off x="45466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8C684-3079-4723-9344-4A9E84B70ABD}"/>
              </a:ext>
            </a:extLst>
          </p:cNvPr>
          <p:cNvSpPr>
            <a:spLocks noGrp="1"/>
          </p:cNvSpPr>
          <p:nvPr/>
        </p:nvSpPr>
        <p:spPr>
          <a:xfrm>
            <a:off x="46513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CB6FF"/>
                </a:solidFill>
              </a:defRPr>
            </a:pPr>
            <a:r>
              <a:rPr sz="975" b="1">
                <a:solidFill>
                  <a:srgbClr val="4CB6FF"/>
                </a:solidFill>
              </a:rPr>
              <a:t>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E3E2A3-DED8-4ED6-B6B6-2FE281176A36}"/>
              </a:ext>
            </a:extLst>
          </p:cNvPr>
          <p:cNvSpPr>
            <a:spLocks noGrp="1"/>
          </p:cNvSpPr>
          <p:nvPr/>
        </p:nvSpPr>
        <p:spPr>
          <a:xfrm>
            <a:off x="50609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Topics Covered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A92A4B-3267-46BD-ACDC-9A8876A643A1}"/>
              </a:ext>
            </a:extLst>
          </p:cNvPr>
          <p:cNvSpPr>
            <a:spLocks noGrp="1"/>
          </p:cNvSpPr>
          <p:nvPr/>
        </p:nvSpPr>
        <p:spPr>
          <a:xfrm>
            <a:off x="45466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Competitive exams, smart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preparation, practice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methods, and what DCAM offers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students.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5A8F794-9C57-47E8-A021-EAA8926E2952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2266950"/>
          </a:xfrm>
          <a:prstGeom prst="roundRect">
            <a:avLst>
              <a:gd name="adj" fmla="val 3361"/>
            </a:avLst>
          </a:prstGeom>
          <a:solidFill>
            <a:srgbClr val="0C1D2E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0E2312-CE51-411F-AA53-066E0EACDB10}"/>
              </a:ext>
            </a:extLst>
          </p:cNvPr>
          <p:cNvSpPr>
            <a:spLocks noGrp="1"/>
          </p:cNvSpPr>
          <p:nvPr/>
        </p:nvSpPr>
        <p:spPr>
          <a:xfrm>
            <a:off x="8026400" y="3067050"/>
            <a:ext cx="3479800" cy="47625"/>
          </a:xfrm>
          <a:prstGeom prst="rect">
            <a:avLst/>
          </a:prstGeom>
          <a:solidFill>
            <a:srgbClr val="2F6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52D4E6-06CA-4DA4-A569-14CA15CC625C}"/>
              </a:ext>
            </a:extLst>
          </p:cNvPr>
          <p:cNvSpPr>
            <a:spLocks noGrp="1"/>
          </p:cNvSpPr>
          <p:nvPr/>
        </p:nvSpPr>
        <p:spPr>
          <a:xfrm>
            <a:off x="8216900" y="3257550"/>
            <a:ext cx="361950" cy="361950"/>
          </a:xfrm>
          <a:prstGeom prst="ellipse">
            <a:avLst/>
          </a:prstGeom>
          <a:solidFill>
            <a:srgbClr val="123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E8C7F9-0B05-4E79-9145-EABDAF361B34}"/>
              </a:ext>
            </a:extLst>
          </p:cNvPr>
          <p:cNvSpPr>
            <a:spLocks noGrp="1"/>
          </p:cNvSpPr>
          <p:nvPr/>
        </p:nvSpPr>
        <p:spPr>
          <a:xfrm>
            <a:off x="8321675" y="332422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6CFF"/>
                </a:solidFill>
              </a:defRPr>
            </a:pPr>
            <a:r>
              <a:rPr sz="975" b="1">
                <a:solidFill>
                  <a:srgbClr val="2F6CFF"/>
                </a:solidFill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0894F8-A0A7-401E-BEFA-9E24A799C126}"/>
              </a:ext>
            </a:extLst>
          </p:cNvPr>
          <p:cNvSpPr>
            <a:spLocks noGrp="1"/>
          </p:cNvSpPr>
          <p:nvPr/>
        </p:nvSpPr>
        <p:spPr>
          <a:xfrm>
            <a:off x="8731250" y="3276600"/>
            <a:ext cx="2565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3D8FF"/>
                </a:solidFill>
              </a:defRPr>
            </a:pPr>
            <a:r>
              <a:rPr sz="1200" b="1">
                <a:solidFill>
                  <a:srgbClr val="73D8FF"/>
                </a:solidFill>
              </a:rPr>
              <a:t>Basic Setup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5A4928-F1FE-4B97-B0E7-453B9720B42B}"/>
              </a:ext>
            </a:extLst>
          </p:cNvPr>
          <p:cNvSpPr>
            <a:spLocks noGrp="1"/>
          </p:cNvSpPr>
          <p:nvPr/>
        </p:nvSpPr>
        <p:spPr>
          <a:xfrm>
            <a:off x="8216900" y="3867150"/>
            <a:ext cx="30988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 projector and classroom or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auditorium space are enough</a:t>
            </a:r>
          </a:p>
          <a:p>
            <a:pPr algn="l">
              <a:defRPr sz="1275" b="0">
                <a:solidFill>
                  <a:srgbClr val="F7FBFF"/>
                </a:solidFill>
              </a:defRPr>
            </a:pPr>
            <a:r>
              <a:rPr sz="1275" b="0">
                <a:solidFill>
                  <a:srgbClr val="F7FBFF"/>
                </a:solidFill>
              </a:rPr>
              <a:t>for the session.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349C094-ECE4-44D6-BAE0-43B7E83B5E7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76B6B1-CBD7-420C-A63A-DBF9CD2C99C5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The seminar is easy to arrange and can fit the school's convenience.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01B9F8-71F0-4DCF-8DAA-1EC25F4A748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5CAB24-C1A7-43B7-888B-9CA9EE7730A7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1758387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3E5A75F-79F7-45E8-986C-74CB18485C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2E1BEC-31BF-4FB7-A8DD-84B75598CC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0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6BE631-AB36-4093-A722-F51D0BAA503C}"/>
              </a:ext>
            </a:extLst>
          </p:cNvPr>
          <p:cNvSpPr>
            <a:spLocks noGrp="1"/>
          </p:cNvSpPr>
          <p:nvPr/>
        </p:nvSpPr>
        <p:spPr>
          <a:xfrm>
            <a:off x="-1333500" y="-1143000"/>
            <a:ext cx="4000500" cy="4000500"/>
          </a:xfrm>
          <a:prstGeom prst="ellipse">
            <a:avLst/>
          </a:prstGeom>
          <a:solidFill>
            <a:srgbClr val="0C2C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A92D09-C2AD-4D0B-A99C-51542CB56574}"/>
              </a:ext>
            </a:extLst>
          </p:cNvPr>
          <p:cNvSpPr>
            <a:spLocks noGrp="1"/>
          </p:cNvSpPr>
          <p:nvPr/>
        </p:nvSpPr>
        <p:spPr>
          <a:xfrm>
            <a:off x="8572500" y="-1143000"/>
            <a:ext cx="3429000" cy="3429000"/>
          </a:xfrm>
          <a:prstGeom prst="ellipse">
            <a:avLst/>
          </a:prstGeom>
          <a:solidFill>
            <a:srgbClr val="0E2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874937-7FF4-4F5B-968C-71C5DA4034B9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762500" cy="4762500"/>
          </a:xfrm>
          <a:prstGeom prst="ellipse">
            <a:avLst/>
          </a:prstGeom>
          <a:solidFill>
            <a:srgbClr val="0A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BCCA4-8301-412F-9D84-E9847273C3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11B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43921-4A83-4E45-81BE-9FF2917924B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809750" cy="47625"/>
          </a:xfrm>
          <a:prstGeom prst="rect">
            <a:avLst/>
          </a:prstGeom>
          <a:solidFill>
            <a:srgbClr val="73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217530-2D99-4979-8052-9EE48401894D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9525"/>
          </a:xfrm>
          <a:prstGeom prst="rect">
            <a:avLst/>
          </a:prstGeom>
          <a:solidFill>
            <a:srgbClr val="1A36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CA820-1CE3-4695-BB11-4AB7281E6F5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3D8FF"/>
                </a:solidFill>
              </a:defRPr>
            </a:pPr>
            <a:r>
              <a:rPr sz="825" b="1">
                <a:solidFill>
                  <a:srgbClr val="73D8FF"/>
                </a:solidFill>
              </a:rPr>
              <a:t>APPROVAL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7AC5E-90A7-46B1-94E2-E08C80440DD2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C7D8E8"/>
                </a:solidFill>
              </a:defRPr>
            </a:pPr>
            <a:r>
              <a:rPr sz="825" b="1">
                <a:solidFill>
                  <a:srgbClr val="C7D8E8"/>
                </a:solidFill>
              </a:rPr>
              <a:t>10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87D003-25FA-4409-B8EE-767D1CB178CD}"/>
              </a:ext>
            </a:extLst>
          </p:cNvPr>
          <p:cNvSpPr>
            <a:spLocks noGrp="1"/>
          </p:cNvSpPr>
          <p:nvPr/>
        </p:nvSpPr>
        <p:spPr>
          <a:xfrm>
            <a:off x="10306050" y="590550"/>
            <a:ext cx="990600" cy="990600"/>
          </a:xfrm>
          <a:prstGeom prst="roundRect">
            <a:avLst>
              <a:gd name="adj" fmla="val 7692"/>
            </a:avLst>
          </a:prstGeom>
          <a:solidFill>
            <a:srgbClr val="0D2032"/>
          </a:solidFill>
          <a:ln w="9525">
            <a:solidFill>
              <a:srgbClr val="1A365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01300" y="718226"/>
            <a:ext cx="800100" cy="7352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DB48AB3-8148-46F7-B829-F0CCCDEB101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7905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Request For Permission To</a:t>
            </a:r>
          </a:p>
          <a:p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Conduct The Seminar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093EE-1E31-462B-96F6-8F0DC3E47BF0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We would be glad to conduct this student seminar at a date and time</a:t>
            </a:r>
          </a:p>
          <a:p>
            <a:pPr algn="l">
              <a:defRPr sz="1350" b="0">
                <a:solidFill>
                  <a:srgbClr val="C7D8E8"/>
                </a:solidFill>
              </a:defRPr>
            </a:pPr>
            <a:r>
              <a:rPr sz="1350" b="0">
                <a:solidFill>
                  <a:srgbClr val="C7D8E8"/>
                </a:solidFill>
              </a:rPr>
              <a:t>convenient to the school.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6DC864-6A82-4E80-8E10-395233088DA0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0D1A28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6A1010-BE97-45B6-97E2-149B6FD8A65D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Value To The School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270A9-FC39-4B17-AB82-6CD512943032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47625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Students gain clearer exam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awareness.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The school adds an academic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guidance opportunity.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The session supports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disciplined preparation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habits.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D3170E-210A-4384-82CE-82FF2DB9B382}"/>
              </a:ext>
            </a:extLst>
          </p:cNvPr>
          <p:cNvSpPr>
            <a:spLocks noGrp="1"/>
          </p:cNvSpPr>
          <p:nvPr/>
        </p:nvSpPr>
        <p:spPr>
          <a:xfrm>
            <a:off x="6362700" y="3048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0D1A28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E7DCBB-49F1-4BFF-927A-7F9789E55927}"/>
              </a:ext>
            </a:extLst>
          </p:cNvPr>
          <p:cNvSpPr>
            <a:spLocks noGrp="1"/>
          </p:cNvSpPr>
          <p:nvPr/>
        </p:nvSpPr>
        <p:spPr>
          <a:xfrm>
            <a:off x="6553200" y="32194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3D8FF"/>
                </a:solidFill>
              </a:defRPr>
            </a:pPr>
            <a:r>
              <a:rPr sz="1350" b="1">
                <a:solidFill>
                  <a:srgbClr val="73D8FF"/>
                </a:solidFill>
              </a:rPr>
              <a:t>What We 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ED350-B56E-416F-B4D2-10EC1037B494}"/>
              </a:ext>
            </a:extLst>
          </p:cNvPr>
          <p:cNvSpPr>
            <a:spLocks noGrp="1"/>
          </p:cNvSpPr>
          <p:nvPr/>
        </p:nvSpPr>
        <p:spPr>
          <a:xfrm>
            <a:off x="6553200" y="3581400"/>
            <a:ext cx="47625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Approval for a seminar slot.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Suitable student group</a:t>
            </a: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  allocation.</a:t>
            </a:r>
          </a:p>
          <a:p>
            <a:endParaRPr sz="1200" b="0">
              <a:solidFill>
                <a:srgbClr val="F7FBFF"/>
              </a:solidFill>
            </a:endParaRPr>
          </a:p>
          <a:p>
            <a:pPr algn="l">
              <a:defRPr sz="1200" b="0">
                <a:solidFill>
                  <a:srgbClr val="F7FBFF"/>
                </a:solidFill>
              </a:defRPr>
            </a:pPr>
            <a:r>
              <a:rPr sz="1200" b="0">
                <a:solidFill>
                  <a:srgbClr val="F7FBFF"/>
                </a:solidFill>
              </a:rPr>
              <a:t>• A venue with projector access.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1D5FF-77CC-477B-87B2-0AF02923E40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oundRect">
            <a:avLst>
              <a:gd name="adj" fmla="val 20000"/>
            </a:avLst>
          </a:prstGeom>
          <a:solidFill>
            <a:srgbClr val="0A1824"/>
          </a:solidFill>
          <a:ln w="9525">
            <a:solidFill>
              <a:srgbClr val="1A365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67EEDD-99D1-4903-831B-2AEF19EA905A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77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7D8E8"/>
                </a:solidFill>
              </a:defRPr>
            </a:pPr>
            <a:r>
              <a:rPr sz="825" b="0">
                <a:solidFill>
                  <a:srgbClr val="C7D8E8"/>
                </a:solidFill>
              </a:rPr>
              <a:t>After approval, the session flow, venue, and student-group details can be coordinated quickly.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6DD21-4DDC-4600-9D2D-31CEE42AFDB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905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dcamclasses.in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6E291C-50A3-4C1F-B9EA-71353ECC9EEF}"/>
              </a:ext>
            </a:extLst>
          </p:cNvPr>
          <p:cNvSpPr>
            <a:spLocks noGrp="1"/>
          </p:cNvSpPr>
          <p:nvPr/>
        </p:nvSpPr>
        <p:spPr>
          <a:xfrm>
            <a:off x="9334500" y="62865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8A4C0"/>
                </a:solidFill>
              </a:defRPr>
            </a:pPr>
            <a:r>
              <a:rPr sz="750" b="0">
                <a:solidFill>
                  <a:srgbClr val="88A4C0"/>
                </a:solidFill>
              </a:rPr>
              <a:t>DCAM Classes 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8427197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958</Words>
  <Application>Microsoft Office PowerPoint</Application>
  <DocSecurity>0</DocSecurity>
  <PresentationFormat>Widescreen</PresentationFormat>
  <Paragraphs>245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Ajay Bhatnagar</cp:lastModifiedBy>
  <cp:revision>2</cp:revision>
  <dcterms:created xsi:type="dcterms:W3CDTF">2026-04-22T13:14:23Z</dcterms:created>
  <dcterms:modified xsi:type="dcterms:W3CDTF">2026-04-27T12:09:41Z</dcterms:modified>
</cp:coreProperties>
</file>