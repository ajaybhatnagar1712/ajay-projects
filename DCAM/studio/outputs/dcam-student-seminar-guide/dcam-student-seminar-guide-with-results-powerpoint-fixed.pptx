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png" ContentType="image/png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12"/>
  </p:notesMasterIdLst>
  <p:sldIdLst>
    <p:sldId id="256" r:id="rId2"/>
    <p:sldId id="266" r:id="rId17"/>
    <p:sldId id="267" r:id="rId18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notesMaster" Target="notesMasters/notesMaster1.xml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viewProps" Target="viewProps.xml" /><Relationship Id="rId17" Type="http://schemas.openxmlformats.org/officeDocument/2006/relationships/slide" Target="slides/slide11.xml" /><Relationship Id="rId18" Type="http://schemas.openxmlformats.org/officeDocument/2006/relationships/slide" Target="slides/slide12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EE729D4-E4DB-4674-A63E-7265519756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endParaRPr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B0F5516-1473-4F9E-9F2A-BB80E4E57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27FED44C-78D8-4652-BC1A-9F4E87F2AD2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76F261C-93C9-4CC3-886D-1326001C77E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701CD60-24C2-4FCA-9ECA-67F66B848ED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17435CC-C815-4817-AC11-D64EA560E88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result_luvya.png"/><Relationship Id="rId4" Type="http://schemas.openxmlformats.org/officeDocument/2006/relationships/image" Target="../media/result_archisman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0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0701CD60-24C2-4FCA-9ECA-67F66B848ED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D80AB4-4632-40C6-AE49-2878F18BB55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10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5146CC1-E598-4D87-861A-63E5ED0D758B}"/>
              </a:ext>
            </a:extLst>
          </p:cNvPr>
          <p:cNvSpPr>
            <a:spLocks noGrp="1"/>
          </p:cNvSpPr>
          <p:nvPr/>
        </p:nvSpPr>
        <p:spPr>
          <a:xfrm>
            <a:off x="-1333500" y="-1143000"/>
            <a:ext cx="4000500" cy="4000500"/>
          </a:xfrm>
          <a:prstGeom prst="ellipse">
            <a:avLst/>
          </a:prstGeom>
          <a:solidFill>
            <a:srgbClr val="0C2C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3202330-1B82-497D-BF25-EA8780C0E284}"/>
              </a:ext>
            </a:extLst>
          </p:cNvPr>
          <p:cNvSpPr>
            <a:spLocks noGrp="1"/>
          </p:cNvSpPr>
          <p:nvPr/>
        </p:nvSpPr>
        <p:spPr>
          <a:xfrm>
            <a:off x="8572500" y="-1143000"/>
            <a:ext cx="3429000" cy="3429000"/>
          </a:xfrm>
          <a:prstGeom prst="ellipse">
            <a:avLst/>
          </a:prstGeom>
          <a:solidFill>
            <a:srgbClr val="0E2C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D1DE1D2-236D-48D1-803B-6D0FAB2A00F0}"/>
              </a:ext>
            </a:extLst>
          </p:cNvPr>
          <p:cNvSpPr>
            <a:spLocks noGrp="1"/>
          </p:cNvSpPr>
          <p:nvPr/>
        </p:nvSpPr>
        <p:spPr>
          <a:xfrm>
            <a:off x="8382000" y="4095750"/>
            <a:ext cx="4762500" cy="4762500"/>
          </a:xfrm>
          <a:prstGeom prst="ellipse">
            <a:avLst/>
          </a:prstGeom>
          <a:solidFill>
            <a:srgbClr val="0A2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682573-7A6E-4788-9721-8C2896E46C6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111B">
              <a:alpha val="8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BFAB15-4954-4DF8-9719-27E499F5DA81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809750" cy="47625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D1029E-2565-4F48-A9AC-24CA677364CE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10820400" cy="9525"/>
          </a:xfrm>
          <a:prstGeom prst="rect">
            <a:avLst/>
          </a:prstGeom>
          <a:solidFill>
            <a:srgbClr val="1A36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55511D-E512-4E74-B4DA-695CC94C7125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228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73D8FF"/>
                </a:solidFill>
              </a:defRPr>
            </a:pPr>
            <a:r>
              <a:rPr sz="825" b="1">
                <a:solidFill>
                  <a:srgbClr val="73D8FF"/>
                </a:solidFill>
              </a:rPr>
              <a:t>STUDENT SEMINAR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EB4016-E56C-4C8D-99BC-A33CFC57C536}"/>
              </a:ext>
            </a:extLst>
          </p:cNvPr>
          <p:cNvSpPr>
            <a:spLocks noGrp="1"/>
          </p:cNvSpPr>
          <p:nvPr/>
        </p:nvSpPr>
        <p:spPr>
          <a:xfrm>
            <a:off x="685800" y="1143000"/>
            <a:ext cx="5619750" cy="1295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7FBFF"/>
                </a:solidFill>
              </a:defRPr>
            </a:pPr>
            <a:r>
              <a:rPr sz="3150" b="1">
                <a:solidFill>
                  <a:srgbClr val="F7FBFF"/>
                </a:solidFill>
              </a:rPr>
              <a:t>Welcome Students To</a:t>
            </a:r>
          </a:p>
          <a:p>
            <a:pPr algn="l">
              <a:defRPr sz="3150" b="1">
                <a:solidFill>
                  <a:srgbClr val="F7FBFF"/>
                </a:solidFill>
              </a:defRPr>
            </a:pPr>
            <a:r>
              <a:rPr sz="3150" b="1">
                <a:solidFill>
                  <a:srgbClr val="F7FBFF"/>
                </a:solidFill>
              </a:rPr>
              <a:t>DCAM Classes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9D3456-2126-4F56-8D98-40C136E3CC71}"/>
              </a:ext>
            </a:extLst>
          </p:cNvPr>
          <p:cNvSpPr>
            <a:spLocks noGrp="1"/>
          </p:cNvSpPr>
          <p:nvPr/>
        </p:nvSpPr>
        <p:spPr>
          <a:xfrm>
            <a:off x="685800" y="2609850"/>
            <a:ext cx="58102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C7D8E8"/>
                </a:solidFill>
              </a:defRPr>
            </a:pPr>
            <a:r>
              <a:rPr sz="1500" b="0">
                <a:solidFill>
                  <a:srgbClr val="C7D8E8"/>
                </a:solidFill>
              </a:rPr>
              <a:t>In this seminar, you will understand what DCAM is,</a:t>
            </a:r>
          </a:p>
          <a:p>
            <a:pPr algn="l">
              <a:defRPr sz="1500" b="0">
                <a:solidFill>
                  <a:srgbClr val="C7D8E8"/>
                </a:solidFill>
              </a:defRPr>
            </a:pPr>
            <a:r>
              <a:rPr sz="1500" b="0">
                <a:solidFill>
                  <a:srgbClr val="C7D8E8"/>
                </a:solidFill>
              </a:rPr>
              <a:t>how it can help your preparation, and how to use it</a:t>
            </a:r>
          </a:p>
          <a:p>
            <a:pPr algn="l">
              <a:defRPr sz="1500" b="0">
                <a:solidFill>
                  <a:srgbClr val="C7D8E8"/>
                </a:solidFill>
              </a:defRPr>
            </a:pPr>
            <a:r>
              <a:rPr sz="1500" b="0">
                <a:solidFill>
                  <a:srgbClr val="C7D8E8"/>
                </a:solidFill>
              </a:rPr>
              <a:t>step by step.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1809245-2A0F-4DC9-8FE3-B2CE5F783F80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4210050" cy="2038350"/>
          </a:xfrm>
          <a:prstGeom prst="roundRect">
            <a:avLst>
              <a:gd name="adj" fmla="val 3738"/>
            </a:avLst>
          </a:prstGeom>
          <a:solidFill>
            <a:srgbClr val="0C1D2E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2A0DE4-7B06-4B15-A96B-5C38680078C5}"/>
              </a:ext>
            </a:extLst>
          </p:cNvPr>
          <p:cNvSpPr>
            <a:spLocks noGrp="1"/>
          </p:cNvSpPr>
          <p:nvPr/>
        </p:nvSpPr>
        <p:spPr>
          <a:xfrm>
            <a:off x="914400" y="39433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73D8FF"/>
                </a:solidFill>
              </a:defRPr>
            </a:pPr>
            <a:r>
              <a:rPr sz="1350" b="1">
                <a:solidFill>
                  <a:srgbClr val="73D8FF"/>
                </a:solidFill>
              </a:rPr>
              <a:t>Today You Will Learn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194CA4-D0CE-4D55-AFB5-B3C74074932C}"/>
              </a:ext>
            </a:extLst>
          </p:cNvPr>
          <p:cNvSpPr>
            <a:spLocks noGrp="1"/>
          </p:cNvSpPr>
          <p:nvPr/>
        </p:nvSpPr>
        <p:spPr>
          <a:xfrm>
            <a:off x="914400" y="4286250"/>
            <a:ext cx="3695700" cy="1333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BFF"/>
                </a:solidFill>
              </a:defRPr>
            </a:pPr>
            <a:r>
              <a:rPr sz="1200" b="0">
                <a:solidFill>
                  <a:srgbClr val="F7FBFF"/>
                </a:solidFill>
              </a:rPr>
              <a:t>1. What DCAM Classes does</a:t>
            </a:r>
          </a:p>
          <a:p>
            <a:endParaRPr sz="1200" b="0">
              <a:solidFill>
                <a:srgbClr val="F7FBFF"/>
              </a:solidFill>
            </a:endParaRPr>
          </a:p>
          <a:p>
            <a:pPr algn="l">
              <a:defRPr sz="1200" b="0">
                <a:solidFill>
                  <a:srgbClr val="F7FBFF"/>
                </a:solidFill>
              </a:defRPr>
            </a:pPr>
            <a:r>
              <a:rPr sz="1200" b="0">
                <a:solidFill>
                  <a:srgbClr val="F7FBFF"/>
                </a:solidFill>
              </a:rPr>
              <a:t>2. What students can use on the</a:t>
            </a:r>
          </a:p>
          <a:p>
            <a:pPr algn="l">
              <a:defRPr sz="1200" b="0">
                <a:solidFill>
                  <a:srgbClr val="F7FBFF"/>
                </a:solidFill>
              </a:defRPr>
            </a:pPr>
            <a:r>
              <a:rPr sz="1200" b="0">
                <a:solidFill>
                  <a:srgbClr val="F7FBFF"/>
                </a:solidFill>
              </a:rPr>
              <a:t>   platform</a:t>
            </a:r>
          </a:p>
          <a:p>
            <a:endParaRPr sz="1200" b="0">
              <a:solidFill>
                <a:srgbClr val="F7FBFF"/>
              </a:solidFill>
            </a:endParaRPr>
          </a:p>
          <a:p>
            <a:pPr algn="l">
              <a:defRPr sz="1200" b="0">
                <a:solidFill>
                  <a:srgbClr val="F7FBFF"/>
                </a:solidFill>
              </a:defRPr>
            </a:pPr>
            <a:r>
              <a:rPr sz="1200" b="0">
                <a:solidFill>
                  <a:srgbClr val="F7FBFF"/>
                </a:solidFill>
              </a:rPr>
              <a:t>3. How to start after this</a:t>
            </a:r>
          </a:p>
          <a:p>
            <a:pPr algn="l">
              <a:defRPr sz="1200" b="0">
                <a:solidFill>
                  <a:srgbClr val="F7FBFF"/>
                </a:solidFill>
              </a:defRPr>
            </a:pPr>
            <a:r>
              <a:rPr sz="1200" b="0">
                <a:solidFill>
                  <a:srgbClr val="F7FBFF"/>
                </a:solidFill>
              </a:rPr>
              <a:t>   seminar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B75C839-E976-477B-A22D-A8D9986DD393}"/>
              </a:ext>
            </a:extLst>
          </p:cNvPr>
          <p:cNvSpPr>
            <a:spLocks noGrp="1"/>
          </p:cNvSpPr>
          <p:nvPr/>
        </p:nvSpPr>
        <p:spPr>
          <a:xfrm>
            <a:off x="7486650" y="914400"/>
            <a:ext cx="4000500" cy="4476750"/>
          </a:xfrm>
          <a:prstGeom prst="roundRect">
            <a:avLst>
              <a:gd name="adj" fmla="val 1905"/>
            </a:avLst>
          </a:prstGeom>
          <a:solidFill>
            <a:srgbClr val="0B1B2B"/>
          </a:solidFill>
          <a:ln w="9525">
            <a:solidFill>
              <a:srgbClr val="1A3650"/>
            </a:solidFill>
            <a:prstDash val="solid"/>
          </a:ln>
        </p:spPr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172450" y="1304376"/>
            <a:ext cx="2571750" cy="236329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F3C511A9-624E-4300-8148-54F4F9BA1994}"/>
              </a:ext>
            </a:extLst>
          </p:cNvPr>
          <p:cNvSpPr>
            <a:spLocks noGrp="1"/>
          </p:cNvSpPr>
          <p:nvPr/>
        </p:nvSpPr>
        <p:spPr>
          <a:xfrm>
            <a:off x="8020050" y="4000500"/>
            <a:ext cx="2933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F7FBFF"/>
                </a:solidFill>
              </a:defRPr>
            </a:pPr>
            <a:r>
              <a:rPr sz="2100" b="1">
                <a:solidFill>
                  <a:srgbClr val="F7FBFF"/>
                </a:solidFill>
              </a:rPr>
              <a:t>DCAM Classes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F896EA7-D3E2-477B-9608-02838A2DCBCA}"/>
              </a:ext>
            </a:extLst>
          </p:cNvPr>
          <p:cNvSpPr>
            <a:spLocks noGrp="1"/>
          </p:cNvSpPr>
          <p:nvPr/>
        </p:nvSpPr>
        <p:spPr>
          <a:xfrm>
            <a:off x="8115300" y="4476750"/>
            <a:ext cx="27432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C7D8E8"/>
                </a:solidFill>
              </a:defRPr>
            </a:pPr>
            <a:r>
              <a:rPr sz="1200" b="0">
                <a:solidFill>
                  <a:srgbClr val="C7D8E8"/>
                </a:solidFill>
              </a:rPr>
              <a:t>One place for learning,</a:t>
            </a:r>
          </a:p>
          <a:p>
            <a:pPr algn="ctr">
              <a:defRPr sz="1200" b="0">
                <a:solidFill>
                  <a:srgbClr val="C7D8E8"/>
                </a:solidFill>
              </a:defRPr>
            </a:pPr>
            <a:r>
              <a:rPr sz="1200" b="0">
                <a:solidFill>
                  <a:srgbClr val="C7D8E8"/>
                </a:solidFill>
              </a:rPr>
              <a:t>practice, tests, and</a:t>
            </a:r>
          </a:p>
          <a:p>
            <a:pPr algn="ctr">
              <a:defRPr sz="1200" b="0">
                <a:solidFill>
                  <a:srgbClr val="C7D8E8"/>
                </a:solidFill>
              </a:defRPr>
            </a:pPr>
            <a:r>
              <a:rPr sz="1200" b="0">
                <a:solidFill>
                  <a:srgbClr val="C7D8E8"/>
                </a:solidFill>
              </a:rPr>
              <a:t>support.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41F878E-0F63-4BA6-B3CE-C39858A2D4E6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905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dcamclasses.in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FD3D228-108C-425B-8A15-B2A54382E587}"/>
              </a:ext>
            </a:extLst>
          </p:cNvPr>
          <p:cNvSpPr>
            <a:spLocks noGrp="1"/>
          </p:cNvSpPr>
          <p:nvPr/>
        </p:nvSpPr>
        <p:spPr>
          <a:xfrm>
            <a:off x="9525000" y="6286500"/>
            <a:ext cx="1981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Student Seminar Guide</a:t>
            </a:r>
          </a:p>
        </p:txBody>
      </p:sp>
    </p:spTree>
    <p:extLst>
      <p:ext uri="{BB962C8B-B14F-4D97-AF65-F5344CB8AC3E}">
        <p14:creationId xmlns:p14="http://schemas.microsoft.com/office/powerpoint/2010/main" val="1772269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0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 Placeholder 5">
            <a:extLst>
              <a:ext uri="{FF2B5EF4-FFF2-40B4-BE49-F238E27FC236}">
                <a16:creationId xmlns:a16="http://schemas.microsoft.com/office/drawing/2014/main" id="{0701CD60-24C2-4FCA-9ECA-67F66B848ED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DCF3C2-D27B-4102-84EA-CAC38A8A37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10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F55D4B8-5203-4746-B68C-4BAE979A2F9A}"/>
              </a:ext>
            </a:extLst>
          </p:cNvPr>
          <p:cNvSpPr>
            <a:spLocks noGrp="1"/>
          </p:cNvSpPr>
          <p:nvPr/>
        </p:nvSpPr>
        <p:spPr>
          <a:xfrm>
            <a:off x="-1333500" y="-1143000"/>
            <a:ext cx="4000500" cy="4000500"/>
          </a:xfrm>
          <a:prstGeom prst="ellipse">
            <a:avLst/>
          </a:prstGeom>
          <a:solidFill>
            <a:srgbClr val="0C2C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CD8968C-B6D5-4A01-BB01-2CCED80C231B}"/>
              </a:ext>
            </a:extLst>
          </p:cNvPr>
          <p:cNvSpPr>
            <a:spLocks noGrp="1"/>
          </p:cNvSpPr>
          <p:nvPr/>
        </p:nvSpPr>
        <p:spPr>
          <a:xfrm>
            <a:off x="8572500" y="-1143000"/>
            <a:ext cx="3429000" cy="3429000"/>
          </a:xfrm>
          <a:prstGeom prst="ellipse">
            <a:avLst/>
          </a:prstGeom>
          <a:solidFill>
            <a:srgbClr val="0E2C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D5367E3-11B2-480F-ACED-361683A4C06C}"/>
              </a:ext>
            </a:extLst>
          </p:cNvPr>
          <p:cNvSpPr>
            <a:spLocks noGrp="1"/>
          </p:cNvSpPr>
          <p:nvPr/>
        </p:nvSpPr>
        <p:spPr>
          <a:xfrm>
            <a:off x="8382000" y="4095750"/>
            <a:ext cx="4762500" cy="4762500"/>
          </a:xfrm>
          <a:prstGeom prst="ellipse">
            <a:avLst/>
          </a:prstGeom>
          <a:solidFill>
            <a:srgbClr val="0A2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825831-60A1-4EBB-A475-2C2788ED08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111B">
              <a:alpha val="8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FC0D86-DA2D-4B41-B83E-590933C1C529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809750" cy="47625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A93C32-75E0-42C0-B7E8-AC5FC04D91A7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10820400" cy="9525"/>
          </a:xfrm>
          <a:prstGeom prst="rect">
            <a:avLst/>
          </a:prstGeom>
          <a:solidFill>
            <a:srgbClr val="1A36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FD690F-B5A9-4083-8C61-879DF9D41B98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73D8FF"/>
                </a:solidFill>
              </a:defRPr>
            </a:pPr>
            <a:r>
              <a:rPr sz="825" b="1">
                <a:solidFill>
                  <a:srgbClr val="73D8FF"/>
                </a:solidFill>
              </a:rPr>
              <a:t>WHAT IS DCAM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CEFAB9-83D9-427B-8744-FB869A199D14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19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C7D8E8"/>
                </a:solidFill>
              </a:defRPr>
            </a:pPr>
            <a:r>
              <a:rPr sz="825" b="1">
                <a:solidFill>
                  <a:srgbClr val="C7D8E8"/>
                </a:solidFill>
              </a:rPr>
              <a:t>04 / 12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AA9DC93-0DAC-455F-968C-58236BC94B50}"/>
              </a:ext>
            </a:extLst>
          </p:cNvPr>
          <p:cNvSpPr>
            <a:spLocks noGrp="1"/>
          </p:cNvSpPr>
          <p:nvPr/>
        </p:nvSpPr>
        <p:spPr>
          <a:xfrm>
            <a:off x="10267950" y="571500"/>
            <a:ext cx="1066800" cy="1066800"/>
          </a:xfrm>
          <a:prstGeom prst="roundRect">
            <a:avLst>
              <a:gd name="adj" fmla="val 7143"/>
            </a:avLst>
          </a:prstGeom>
          <a:solidFill>
            <a:srgbClr val="0D2032"/>
          </a:solidFill>
          <a:ln w="9525">
            <a:solidFill>
              <a:srgbClr val="1A3650"/>
            </a:solidFill>
            <a:prstDash val="solid"/>
          </a:ln>
        </p:spPr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63200" y="702264"/>
            <a:ext cx="876300" cy="80527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84E4511-5187-4FC7-A38D-84F3A4751A3F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8096250" cy="1181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DCAM Classes Is A Simple Online</a:t>
            </a:r>
          </a:p>
          <a:p>
            <a:pPr algn="l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Study Platform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6F9CC4-4F08-454B-8A90-41449CE65B17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7429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7D8E8"/>
                </a:solidFill>
              </a:defRPr>
            </a:pPr>
            <a:r>
              <a:rPr sz="1350" b="0">
                <a:solidFill>
                  <a:srgbClr val="C7D8E8"/>
                </a:solidFill>
              </a:rPr>
              <a:t>It keeps learning, practice, testing, and support in one place so students</a:t>
            </a:r>
          </a:p>
          <a:p>
            <a:pPr algn="l">
              <a:defRPr sz="1350" b="0">
                <a:solidFill>
                  <a:srgbClr val="C7D8E8"/>
                </a:solidFill>
              </a:defRPr>
            </a:pPr>
            <a:r>
              <a:rPr sz="1350" b="0">
                <a:solidFill>
                  <a:srgbClr val="C7D8E8"/>
                </a:solidFill>
              </a:rPr>
              <a:t>can study in a more organized way.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4BF12CD-73EF-4686-8427-F491A6163537}"/>
              </a:ext>
            </a:extLst>
          </p:cNvPr>
          <p:cNvSpPr>
            <a:spLocks noGrp="1"/>
          </p:cNvSpPr>
          <p:nvPr/>
        </p:nvSpPr>
        <p:spPr>
          <a:xfrm>
            <a:off x="685800" y="3067050"/>
            <a:ext cx="3479800" cy="2266950"/>
          </a:xfrm>
          <a:prstGeom prst="roundRect">
            <a:avLst>
              <a:gd name="adj" fmla="val 3361"/>
            </a:avLst>
          </a:prstGeom>
          <a:solidFill>
            <a:srgbClr val="0C1D2E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E30973-1EE7-4B1B-8CC1-F1659AD4C0FC}"/>
              </a:ext>
            </a:extLst>
          </p:cNvPr>
          <p:cNvSpPr>
            <a:spLocks noGrp="1"/>
          </p:cNvSpPr>
          <p:nvPr/>
        </p:nvSpPr>
        <p:spPr>
          <a:xfrm>
            <a:off x="685800" y="3067050"/>
            <a:ext cx="3479800" cy="47625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07E1A0D-28CB-4E7A-9F57-C7449AD160DF}"/>
              </a:ext>
            </a:extLst>
          </p:cNvPr>
          <p:cNvSpPr>
            <a:spLocks noGrp="1"/>
          </p:cNvSpPr>
          <p:nvPr/>
        </p:nvSpPr>
        <p:spPr>
          <a:xfrm>
            <a:off x="876300" y="3257550"/>
            <a:ext cx="361950" cy="361950"/>
          </a:xfrm>
          <a:prstGeom prst="ellipse">
            <a:avLst/>
          </a:prstGeom>
          <a:solidFill>
            <a:srgbClr val="1231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25396E2-CF9A-4AA1-B302-68EF855AF5C4}"/>
              </a:ext>
            </a:extLst>
          </p:cNvPr>
          <p:cNvSpPr>
            <a:spLocks noGrp="1"/>
          </p:cNvSpPr>
          <p:nvPr/>
        </p:nvSpPr>
        <p:spPr>
          <a:xfrm>
            <a:off x="981075" y="33242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73D8FF"/>
                </a:solidFill>
              </a:defRPr>
            </a:pPr>
            <a:r>
              <a:rPr sz="975" b="1">
                <a:solidFill>
                  <a:srgbClr val="73D8FF"/>
                </a:solidFill>
              </a:rPr>
              <a:t>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FAB3F9-92E0-42E1-98A4-5744A9150EBC}"/>
              </a:ext>
            </a:extLst>
          </p:cNvPr>
          <p:cNvSpPr>
            <a:spLocks noGrp="1"/>
          </p:cNvSpPr>
          <p:nvPr/>
        </p:nvSpPr>
        <p:spPr>
          <a:xfrm>
            <a:off x="1390650" y="3276600"/>
            <a:ext cx="2565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3D8FF"/>
                </a:solidFill>
              </a:defRPr>
            </a:pPr>
            <a:r>
              <a:rPr sz="1200" b="1">
                <a:solidFill>
                  <a:srgbClr val="73D8FF"/>
                </a:solidFill>
              </a:rPr>
              <a:t>Learn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19B1648-819F-4DD2-B9BB-B01881FD36E8}"/>
              </a:ext>
            </a:extLst>
          </p:cNvPr>
          <p:cNvSpPr>
            <a:spLocks noGrp="1"/>
          </p:cNvSpPr>
          <p:nvPr/>
        </p:nvSpPr>
        <p:spPr>
          <a:xfrm>
            <a:off x="876300" y="3867150"/>
            <a:ext cx="30988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Use courses, crash courses,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and live batches to study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with better structure.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3CA3405-F906-4D80-AAD9-D73B37311375}"/>
              </a:ext>
            </a:extLst>
          </p:cNvPr>
          <p:cNvSpPr>
            <a:spLocks noGrp="1"/>
          </p:cNvSpPr>
          <p:nvPr/>
        </p:nvSpPr>
        <p:spPr>
          <a:xfrm>
            <a:off x="4356100" y="3067050"/>
            <a:ext cx="3479800" cy="2266950"/>
          </a:xfrm>
          <a:prstGeom prst="roundRect">
            <a:avLst>
              <a:gd name="adj" fmla="val 3361"/>
            </a:avLst>
          </a:prstGeom>
          <a:solidFill>
            <a:srgbClr val="0C1D2E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C68FB74-6F66-498C-B7D1-56A7D740501B}"/>
              </a:ext>
            </a:extLst>
          </p:cNvPr>
          <p:cNvSpPr>
            <a:spLocks noGrp="1"/>
          </p:cNvSpPr>
          <p:nvPr/>
        </p:nvSpPr>
        <p:spPr>
          <a:xfrm>
            <a:off x="4356100" y="3067050"/>
            <a:ext cx="3479800" cy="47625"/>
          </a:xfrm>
          <a:prstGeom prst="rect">
            <a:avLst/>
          </a:prstGeom>
          <a:solidFill>
            <a:srgbClr val="4CB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C775078-5138-4B1F-8FF1-34C1632BC5DA}"/>
              </a:ext>
            </a:extLst>
          </p:cNvPr>
          <p:cNvSpPr>
            <a:spLocks noGrp="1"/>
          </p:cNvSpPr>
          <p:nvPr/>
        </p:nvSpPr>
        <p:spPr>
          <a:xfrm>
            <a:off x="4546600" y="3257550"/>
            <a:ext cx="361950" cy="361950"/>
          </a:xfrm>
          <a:prstGeom prst="ellipse">
            <a:avLst/>
          </a:prstGeom>
          <a:solidFill>
            <a:srgbClr val="1231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821D6F0-586B-496B-9077-5D80644004D5}"/>
              </a:ext>
            </a:extLst>
          </p:cNvPr>
          <p:cNvSpPr>
            <a:spLocks noGrp="1"/>
          </p:cNvSpPr>
          <p:nvPr/>
        </p:nvSpPr>
        <p:spPr>
          <a:xfrm>
            <a:off x="4651375" y="33242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4CB6FF"/>
                </a:solidFill>
              </a:defRPr>
            </a:pPr>
            <a:r>
              <a:rPr sz="975" b="1">
                <a:solidFill>
                  <a:srgbClr val="4CB6FF"/>
                </a:solidFill>
              </a:rPr>
              <a:t>P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F1D4366-5B92-4BE8-9385-D9A3E4D3DCA7}"/>
              </a:ext>
            </a:extLst>
          </p:cNvPr>
          <p:cNvSpPr>
            <a:spLocks noGrp="1"/>
          </p:cNvSpPr>
          <p:nvPr/>
        </p:nvSpPr>
        <p:spPr>
          <a:xfrm>
            <a:off x="5060950" y="3276600"/>
            <a:ext cx="2565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3D8FF"/>
                </a:solidFill>
              </a:defRPr>
            </a:pPr>
            <a:r>
              <a:rPr sz="1200" b="1">
                <a:solidFill>
                  <a:srgbClr val="73D8FF"/>
                </a:solidFill>
              </a:rPr>
              <a:t>Practice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0D414E0-4D59-4928-98A4-B7DC8418DBA2}"/>
              </a:ext>
            </a:extLst>
          </p:cNvPr>
          <p:cNvSpPr>
            <a:spLocks noGrp="1"/>
          </p:cNvSpPr>
          <p:nvPr/>
        </p:nvSpPr>
        <p:spPr>
          <a:xfrm>
            <a:off x="4546600" y="3867150"/>
            <a:ext cx="30988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Use practice sessions, mock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tests, and custom mock tests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to improve speed and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confidence.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19685A4-9201-43E8-A40B-D383A41CF7AE}"/>
              </a:ext>
            </a:extLst>
          </p:cNvPr>
          <p:cNvSpPr>
            <a:spLocks noGrp="1"/>
          </p:cNvSpPr>
          <p:nvPr/>
        </p:nvSpPr>
        <p:spPr>
          <a:xfrm>
            <a:off x="8026400" y="3067050"/>
            <a:ext cx="3479800" cy="2266950"/>
          </a:xfrm>
          <a:prstGeom prst="roundRect">
            <a:avLst>
              <a:gd name="adj" fmla="val 3361"/>
            </a:avLst>
          </a:prstGeom>
          <a:solidFill>
            <a:srgbClr val="0C1D2E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FFCEB2A-73E7-42BB-A34B-30FACB058142}"/>
              </a:ext>
            </a:extLst>
          </p:cNvPr>
          <p:cNvSpPr>
            <a:spLocks noGrp="1"/>
          </p:cNvSpPr>
          <p:nvPr/>
        </p:nvSpPr>
        <p:spPr>
          <a:xfrm>
            <a:off x="8026400" y="3067050"/>
            <a:ext cx="3479800" cy="47625"/>
          </a:xfrm>
          <a:prstGeom prst="rect">
            <a:avLst/>
          </a:prstGeom>
          <a:solidFill>
            <a:srgbClr val="2F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21D5796-F95C-4D51-8305-08D8E676A844}"/>
              </a:ext>
            </a:extLst>
          </p:cNvPr>
          <p:cNvSpPr>
            <a:spLocks noGrp="1"/>
          </p:cNvSpPr>
          <p:nvPr/>
        </p:nvSpPr>
        <p:spPr>
          <a:xfrm>
            <a:off x="8216900" y="3257550"/>
            <a:ext cx="361950" cy="361950"/>
          </a:xfrm>
          <a:prstGeom prst="ellipse">
            <a:avLst/>
          </a:prstGeom>
          <a:solidFill>
            <a:srgbClr val="1231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1517F9D-2C6C-4DFE-8E41-FEBF9A7B1E27}"/>
              </a:ext>
            </a:extLst>
          </p:cNvPr>
          <p:cNvSpPr>
            <a:spLocks noGrp="1"/>
          </p:cNvSpPr>
          <p:nvPr/>
        </p:nvSpPr>
        <p:spPr>
          <a:xfrm>
            <a:off x="8321675" y="33242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2F6CFF"/>
                </a:solidFill>
              </a:defRPr>
            </a:pPr>
            <a:r>
              <a:rPr sz="975" b="1">
                <a:solidFill>
                  <a:srgbClr val="2F6CFF"/>
                </a:solidFill>
              </a:rPr>
              <a:t>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A5BD016-0A04-4746-8F6B-4E2715B2A6FF}"/>
              </a:ext>
            </a:extLst>
          </p:cNvPr>
          <p:cNvSpPr>
            <a:spLocks noGrp="1"/>
          </p:cNvSpPr>
          <p:nvPr/>
        </p:nvSpPr>
        <p:spPr>
          <a:xfrm>
            <a:off x="8731250" y="3276600"/>
            <a:ext cx="2565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3D8FF"/>
                </a:solidFill>
              </a:defRPr>
            </a:pPr>
            <a:r>
              <a:rPr sz="1200" b="1">
                <a:solidFill>
                  <a:srgbClr val="73D8FF"/>
                </a:solidFill>
              </a:rPr>
              <a:t>Stay Guided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E05C52F-65C7-41DB-9ABD-D67675C67694}"/>
              </a:ext>
            </a:extLst>
          </p:cNvPr>
          <p:cNvSpPr>
            <a:spLocks noGrp="1"/>
          </p:cNvSpPr>
          <p:nvPr/>
        </p:nvSpPr>
        <p:spPr>
          <a:xfrm>
            <a:off x="8216900" y="3867150"/>
            <a:ext cx="30988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Use teachers, doubts, chat,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notices, and progress tools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so you do not study alone.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EA4B3BF7-C5AF-4C74-89EB-71A9912BF931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820400" cy="381000"/>
          </a:xfrm>
          <a:prstGeom prst="roundRect">
            <a:avLst>
              <a:gd name="adj" fmla="val 20000"/>
            </a:avLst>
          </a:prstGeom>
          <a:solidFill>
            <a:srgbClr val="0A1824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F666948-AE71-4CD7-AAD4-75D3C8D89AB6}"/>
              </a:ext>
            </a:extLst>
          </p:cNvPr>
          <p:cNvSpPr>
            <a:spLocks noGrp="1"/>
          </p:cNvSpPr>
          <p:nvPr/>
        </p:nvSpPr>
        <p:spPr>
          <a:xfrm>
            <a:off x="857250" y="5734050"/>
            <a:ext cx="10477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C7D8E8"/>
                </a:solidFill>
              </a:defRPr>
            </a:pPr>
            <a:r>
              <a:rPr sz="825" b="0">
                <a:solidFill>
                  <a:srgbClr val="C7D8E8"/>
                </a:solidFill>
              </a:rPr>
              <a:t>DCAM is meant to make preparation easier to continue every day.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A022D71-98ED-4B89-98EE-DAF80D6B6BC3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905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dcamclasses.in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2A49E9C-F0FE-409D-8541-F535CA9FEE91}"/>
              </a:ext>
            </a:extLst>
          </p:cNvPr>
          <p:cNvSpPr>
            <a:spLocks noGrp="1"/>
          </p:cNvSpPr>
          <p:nvPr/>
        </p:nvSpPr>
        <p:spPr>
          <a:xfrm>
            <a:off x="9525000" y="6286500"/>
            <a:ext cx="1981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Student Seminar Guide</a:t>
            </a:r>
          </a:p>
        </p:txBody>
      </p:sp>
    </p:spTree>
    <p:extLst>
      <p:ext uri="{BB962C8B-B14F-4D97-AF65-F5344CB8AC3E}">
        <p14:creationId xmlns:p14="http://schemas.microsoft.com/office/powerpoint/2010/main" val="1954470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0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lide Number Placeholder 5">
            <a:extLst>
              <a:ext uri="{FF2B5EF4-FFF2-40B4-BE49-F238E27FC236}">
                <a16:creationId xmlns:a16="http://schemas.microsoft.com/office/drawing/2014/main" id="{0701CD60-24C2-4FCA-9ECA-67F66B848ED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728F32-035E-40ED-9193-B9A7E1CFAF3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10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134F242-F2DB-471E-8ED4-CB77B571E5F8}"/>
              </a:ext>
            </a:extLst>
          </p:cNvPr>
          <p:cNvSpPr>
            <a:spLocks noGrp="1"/>
          </p:cNvSpPr>
          <p:nvPr/>
        </p:nvSpPr>
        <p:spPr>
          <a:xfrm>
            <a:off x="-1333500" y="-1143000"/>
            <a:ext cx="4000500" cy="4000500"/>
          </a:xfrm>
          <a:prstGeom prst="ellipse">
            <a:avLst/>
          </a:prstGeom>
          <a:solidFill>
            <a:srgbClr val="0C2C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B760ACE-29BD-4D9F-B898-812957B7B305}"/>
              </a:ext>
            </a:extLst>
          </p:cNvPr>
          <p:cNvSpPr>
            <a:spLocks noGrp="1"/>
          </p:cNvSpPr>
          <p:nvPr/>
        </p:nvSpPr>
        <p:spPr>
          <a:xfrm>
            <a:off x="8572500" y="-1143000"/>
            <a:ext cx="3429000" cy="3429000"/>
          </a:xfrm>
          <a:prstGeom prst="ellipse">
            <a:avLst/>
          </a:prstGeom>
          <a:solidFill>
            <a:srgbClr val="0E2C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EF9B73-A5E3-4661-8BDF-AF9CF4410782}"/>
              </a:ext>
            </a:extLst>
          </p:cNvPr>
          <p:cNvSpPr>
            <a:spLocks noGrp="1"/>
          </p:cNvSpPr>
          <p:nvPr/>
        </p:nvSpPr>
        <p:spPr>
          <a:xfrm>
            <a:off x="8382000" y="4095750"/>
            <a:ext cx="4762500" cy="4762500"/>
          </a:xfrm>
          <a:prstGeom prst="ellipse">
            <a:avLst/>
          </a:prstGeom>
          <a:solidFill>
            <a:srgbClr val="0A2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054B7B-AA49-4721-B028-FB64BC2BDC8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111B">
              <a:alpha val="8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C37274-D9C4-4962-97EF-363713EEABA9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809750" cy="47625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30DDDE-9AC6-4A14-B96B-3FEB141CA6B5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10820400" cy="9525"/>
          </a:xfrm>
          <a:prstGeom prst="rect">
            <a:avLst/>
          </a:prstGeom>
          <a:solidFill>
            <a:srgbClr val="1A36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73C8C0-E727-43A1-9126-D33C756A98A9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73D8FF"/>
                </a:solidFill>
              </a:defRPr>
            </a:pPr>
            <a:r>
              <a:rPr sz="825" b="1">
                <a:solidFill>
                  <a:srgbClr val="73D8FF"/>
                </a:solidFill>
              </a:rPr>
              <a:t>STUDENT TOOLS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9899DE-46AA-4BBA-BDAC-A432C68BFE34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19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C7D8E8"/>
                </a:solidFill>
              </a:defRPr>
            </a:pPr>
            <a:r>
              <a:rPr sz="825" b="1">
                <a:solidFill>
                  <a:srgbClr val="C7D8E8"/>
                </a:solidFill>
              </a:rPr>
              <a:t>05 / 12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1798732-2350-4FDE-B1BB-740A5834C130}"/>
              </a:ext>
            </a:extLst>
          </p:cNvPr>
          <p:cNvSpPr>
            <a:spLocks noGrp="1"/>
          </p:cNvSpPr>
          <p:nvPr/>
        </p:nvSpPr>
        <p:spPr>
          <a:xfrm>
            <a:off x="10267950" y="571500"/>
            <a:ext cx="1066800" cy="1066800"/>
          </a:xfrm>
          <a:prstGeom prst="roundRect">
            <a:avLst>
              <a:gd name="adj" fmla="val 7143"/>
            </a:avLst>
          </a:prstGeom>
          <a:solidFill>
            <a:srgbClr val="0D2032"/>
          </a:solidFill>
          <a:ln w="9525">
            <a:solidFill>
              <a:srgbClr val="1A3650"/>
            </a:solidFill>
            <a:prstDash val="solid"/>
          </a:ln>
        </p:spPr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63200" y="702264"/>
            <a:ext cx="876300" cy="80527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C893B9C-EC50-448B-AF5A-C26C11BF5B78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8096250" cy="1181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What Students Can Use On DCAM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93B57A-3952-4FB7-B076-2796E424F8A8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7429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7D8E8"/>
                </a:solidFill>
              </a:defRPr>
            </a:pPr>
            <a:r>
              <a:rPr sz="1350" b="0">
                <a:solidFill>
                  <a:srgbClr val="C7D8E8"/>
                </a:solidFill>
              </a:rPr>
              <a:t>You do not need to use every tool on day one, but it helps to know what is</a:t>
            </a:r>
          </a:p>
          <a:p>
            <a:pPr algn="l">
              <a:defRPr sz="1350" b="0">
                <a:solidFill>
                  <a:srgbClr val="C7D8E8"/>
                </a:solidFill>
              </a:defRPr>
            </a:pPr>
            <a:r>
              <a:rPr sz="1350" b="0">
                <a:solidFill>
                  <a:srgbClr val="C7D8E8"/>
                </a:solidFill>
              </a:rPr>
              <a:t>available.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00E6BC6-797F-474C-8412-BF90748B4FAE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2590800" cy="781050"/>
          </a:xfrm>
          <a:prstGeom prst="roundRect">
            <a:avLst>
              <a:gd name="adj" fmla="val 9756"/>
            </a:avLst>
          </a:prstGeom>
          <a:solidFill>
            <a:srgbClr val="11263B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C860F22-AA8A-48DF-9E85-02D8BD60B284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2590800" cy="38100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D957E5-9536-463C-8968-319B74E4C054}"/>
              </a:ext>
            </a:extLst>
          </p:cNvPr>
          <p:cNvSpPr>
            <a:spLocks noGrp="1"/>
          </p:cNvSpPr>
          <p:nvPr/>
        </p:nvSpPr>
        <p:spPr>
          <a:xfrm>
            <a:off x="838200" y="3238500"/>
            <a:ext cx="2286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7FBFF"/>
                </a:solidFill>
              </a:defRPr>
            </a:pPr>
            <a:r>
              <a:rPr sz="1200" b="1">
                <a:solidFill>
                  <a:srgbClr val="F7FBFF"/>
                </a:solidFill>
              </a:rPr>
              <a:t>Courses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382D3E6-DBE5-49B6-B89C-DA797077D5C5}"/>
              </a:ext>
            </a:extLst>
          </p:cNvPr>
          <p:cNvSpPr>
            <a:spLocks noGrp="1"/>
          </p:cNvSpPr>
          <p:nvPr/>
        </p:nvSpPr>
        <p:spPr>
          <a:xfrm>
            <a:off x="3429000" y="3048000"/>
            <a:ext cx="2590800" cy="781050"/>
          </a:xfrm>
          <a:prstGeom prst="roundRect">
            <a:avLst>
              <a:gd name="adj" fmla="val 9756"/>
            </a:avLst>
          </a:prstGeom>
          <a:solidFill>
            <a:srgbClr val="11263B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AC39AF4-9B20-4857-AF87-85D15CF0EB06}"/>
              </a:ext>
            </a:extLst>
          </p:cNvPr>
          <p:cNvSpPr>
            <a:spLocks noGrp="1"/>
          </p:cNvSpPr>
          <p:nvPr/>
        </p:nvSpPr>
        <p:spPr>
          <a:xfrm>
            <a:off x="3429000" y="3048000"/>
            <a:ext cx="2590800" cy="38100"/>
          </a:xfrm>
          <a:prstGeom prst="rect">
            <a:avLst/>
          </a:prstGeom>
          <a:solidFill>
            <a:srgbClr val="4CB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4CA6EC-D8B4-4E83-AC91-63FA0914EC6C}"/>
              </a:ext>
            </a:extLst>
          </p:cNvPr>
          <p:cNvSpPr>
            <a:spLocks noGrp="1"/>
          </p:cNvSpPr>
          <p:nvPr/>
        </p:nvSpPr>
        <p:spPr>
          <a:xfrm>
            <a:off x="3581400" y="3238500"/>
            <a:ext cx="2286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7FBFF"/>
                </a:solidFill>
              </a:defRPr>
            </a:pPr>
            <a:r>
              <a:rPr sz="1200" b="1">
                <a:solidFill>
                  <a:srgbClr val="F7FBFF"/>
                </a:solidFill>
              </a:rPr>
              <a:t>Crash Courses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1756C9A-9C8F-48CF-A77A-9CDE1C388524}"/>
              </a:ext>
            </a:extLst>
          </p:cNvPr>
          <p:cNvSpPr>
            <a:spLocks noGrp="1"/>
          </p:cNvSpPr>
          <p:nvPr/>
        </p:nvSpPr>
        <p:spPr>
          <a:xfrm>
            <a:off x="6172200" y="3048000"/>
            <a:ext cx="2590800" cy="781050"/>
          </a:xfrm>
          <a:prstGeom prst="roundRect">
            <a:avLst>
              <a:gd name="adj" fmla="val 9756"/>
            </a:avLst>
          </a:prstGeom>
          <a:solidFill>
            <a:srgbClr val="11263B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CF916DB-F3E5-4A11-A00A-30AE94883F49}"/>
              </a:ext>
            </a:extLst>
          </p:cNvPr>
          <p:cNvSpPr>
            <a:spLocks noGrp="1"/>
          </p:cNvSpPr>
          <p:nvPr/>
        </p:nvSpPr>
        <p:spPr>
          <a:xfrm>
            <a:off x="6172200" y="3048000"/>
            <a:ext cx="2590800" cy="38100"/>
          </a:xfrm>
          <a:prstGeom prst="rect">
            <a:avLst/>
          </a:prstGeom>
          <a:solidFill>
            <a:srgbClr val="2F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32A5248-19F5-4BC1-B8F7-6DDFE043D616}"/>
              </a:ext>
            </a:extLst>
          </p:cNvPr>
          <p:cNvSpPr>
            <a:spLocks noGrp="1"/>
          </p:cNvSpPr>
          <p:nvPr/>
        </p:nvSpPr>
        <p:spPr>
          <a:xfrm>
            <a:off x="6324600" y="3238500"/>
            <a:ext cx="2286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7FBFF"/>
                </a:solidFill>
              </a:defRPr>
            </a:pPr>
            <a:r>
              <a:rPr sz="1200" b="1">
                <a:solidFill>
                  <a:srgbClr val="F7FBFF"/>
                </a:solidFill>
              </a:rPr>
              <a:t>Live Batches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7E00F30-C5BF-4009-B8BD-F6B7469124BA}"/>
              </a:ext>
            </a:extLst>
          </p:cNvPr>
          <p:cNvSpPr>
            <a:spLocks noGrp="1"/>
          </p:cNvSpPr>
          <p:nvPr/>
        </p:nvSpPr>
        <p:spPr>
          <a:xfrm>
            <a:off x="8915400" y="3048000"/>
            <a:ext cx="2590800" cy="781050"/>
          </a:xfrm>
          <a:prstGeom prst="roundRect">
            <a:avLst>
              <a:gd name="adj" fmla="val 9756"/>
            </a:avLst>
          </a:prstGeom>
          <a:solidFill>
            <a:srgbClr val="11263B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D0ED04E-AC37-4EA8-8C6A-D4EE9C8E73D6}"/>
              </a:ext>
            </a:extLst>
          </p:cNvPr>
          <p:cNvSpPr>
            <a:spLocks noGrp="1"/>
          </p:cNvSpPr>
          <p:nvPr/>
        </p:nvSpPr>
        <p:spPr>
          <a:xfrm>
            <a:off x="8915400" y="3048000"/>
            <a:ext cx="2590800" cy="38100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8810ADD-175A-4C29-B47D-305867EE7C41}"/>
              </a:ext>
            </a:extLst>
          </p:cNvPr>
          <p:cNvSpPr>
            <a:spLocks noGrp="1"/>
          </p:cNvSpPr>
          <p:nvPr/>
        </p:nvSpPr>
        <p:spPr>
          <a:xfrm>
            <a:off x="9067800" y="3238500"/>
            <a:ext cx="2286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7FBFF"/>
                </a:solidFill>
              </a:defRPr>
            </a:pPr>
            <a:r>
              <a:rPr sz="1200" b="1">
                <a:solidFill>
                  <a:srgbClr val="F7FBFF"/>
                </a:solidFill>
              </a:rPr>
              <a:t>Practice</a:t>
            </a:r>
          </a:p>
          <a:p>
            <a:pPr algn="l">
              <a:defRPr sz="1200" b="1">
                <a:solidFill>
                  <a:srgbClr val="F7FBFF"/>
                </a:solidFill>
              </a:defRPr>
            </a:pPr>
            <a:r>
              <a:rPr sz="1200" b="1">
                <a:solidFill>
                  <a:srgbClr val="F7FBFF"/>
                </a:solidFill>
              </a:rPr>
              <a:t>Sessions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2E27C55-FC71-42E6-8688-CE51BFD0DD2F}"/>
              </a:ext>
            </a:extLst>
          </p:cNvPr>
          <p:cNvSpPr>
            <a:spLocks noGrp="1"/>
          </p:cNvSpPr>
          <p:nvPr/>
        </p:nvSpPr>
        <p:spPr>
          <a:xfrm>
            <a:off x="685800" y="3981450"/>
            <a:ext cx="2590800" cy="781050"/>
          </a:xfrm>
          <a:prstGeom prst="roundRect">
            <a:avLst>
              <a:gd name="adj" fmla="val 9756"/>
            </a:avLst>
          </a:prstGeom>
          <a:solidFill>
            <a:srgbClr val="11263B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8DE2D41-5A48-4AAF-86A3-4ACCA7B4CBFE}"/>
              </a:ext>
            </a:extLst>
          </p:cNvPr>
          <p:cNvSpPr>
            <a:spLocks noGrp="1"/>
          </p:cNvSpPr>
          <p:nvPr/>
        </p:nvSpPr>
        <p:spPr>
          <a:xfrm>
            <a:off x="685800" y="3981450"/>
            <a:ext cx="2590800" cy="38100"/>
          </a:xfrm>
          <a:prstGeom prst="rect">
            <a:avLst/>
          </a:prstGeom>
          <a:solidFill>
            <a:srgbClr val="4CB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446B0B5-95A4-453F-923C-B9E686EE84CA}"/>
              </a:ext>
            </a:extLst>
          </p:cNvPr>
          <p:cNvSpPr>
            <a:spLocks noGrp="1"/>
          </p:cNvSpPr>
          <p:nvPr/>
        </p:nvSpPr>
        <p:spPr>
          <a:xfrm>
            <a:off x="838200" y="4171950"/>
            <a:ext cx="2286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7FBFF"/>
                </a:solidFill>
              </a:defRPr>
            </a:pPr>
            <a:r>
              <a:rPr sz="1200" b="1">
                <a:solidFill>
                  <a:srgbClr val="F7FBFF"/>
                </a:solidFill>
              </a:rPr>
              <a:t>Mock Tests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1CD03C8-71E7-4AC4-813F-C32F4401E0D3}"/>
              </a:ext>
            </a:extLst>
          </p:cNvPr>
          <p:cNvSpPr>
            <a:spLocks noGrp="1"/>
          </p:cNvSpPr>
          <p:nvPr/>
        </p:nvSpPr>
        <p:spPr>
          <a:xfrm>
            <a:off x="3429000" y="3981450"/>
            <a:ext cx="2590800" cy="781050"/>
          </a:xfrm>
          <a:prstGeom prst="roundRect">
            <a:avLst>
              <a:gd name="adj" fmla="val 9756"/>
            </a:avLst>
          </a:prstGeom>
          <a:solidFill>
            <a:srgbClr val="11263B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BCC1091-0746-4F88-B007-94DCE98A7C35}"/>
              </a:ext>
            </a:extLst>
          </p:cNvPr>
          <p:cNvSpPr>
            <a:spLocks noGrp="1"/>
          </p:cNvSpPr>
          <p:nvPr/>
        </p:nvSpPr>
        <p:spPr>
          <a:xfrm>
            <a:off x="3429000" y="3981450"/>
            <a:ext cx="2590800" cy="38100"/>
          </a:xfrm>
          <a:prstGeom prst="rect">
            <a:avLst/>
          </a:prstGeom>
          <a:solidFill>
            <a:srgbClr val="2F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28E0DEE-664C-4EE8-9656-2EE6DD4177CB}"/>
              </a:ext>
            </a:extLst>
          </p:cNvPr>
          <p:cNvSpPr>
            <a:spLocks noGrp="1"/>
          </p:cNvSpPr>
          <p:nvPr/>
        </p:nvSpPr>
        <p:spPr>
          <a:xfrm>
            <a:off x="3581400" y="4171950"/>
            <a:ext cx="2286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7FBFF"/>
                </a:solidFill>
              </a:defRPr>
            </a:pPr>
            <a:r>
              <a:rPr sz="1200" b="1">
                <a:solidFill>
                  <a:srgbClr val="F7FBFF"/>
                </a:solidFill>
              </a:rPr>
              <a:t>Custom Mock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3C77B9B-BE34-4DF7-94E9-C0F930817D0F}"/>
              </a:ext>
            </a:extLst>
          </p:cNvPr>
          <p:cNvSpPr>
            <a:spLocks noGrp="1"/>
          </p:cNvSpPr>
          <p:nvPr/>
        </p:nvSpPr>
        <p:spPr>
          <a:xfrm>
            <a:off x="6172200" y="3981450"/>
            <a:ext cx="2590800" cy="781050"/>
          </a:xfrm>
          <a:prstGeom prst="roundRect">
            <a:avLst>
              <a:gd name="adj" fmla="val 9756"/>
            </a:avLst>
          </a:prstGeom>
          <a:solidFill>
            <a:srgbClr val="11263B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4769664-7805-40A2-B110-DD135CA17D24}"/>
              </a:ext>
            </a:extLst>
          </p:cNvPr>
          <p:cNvSpPr>
            <a:spLocks noGrp="1"/>
          </p:cNvSpPr>
          <p:nvPr/>
        </p:nvSpPr>
        <p:spPr>
          <a:xfrm>
            <a:off x="6172200" y="3981450"/>
            <a:ext cx="2590800" cy="38100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A29C51E-DED5-4A5D-8024-491ECBF8440B}"/>
              </a:ext>
            </a:extLst>
          </p:cNvPr>
          <p:cNvSpPr>
            <a:spLocks noGrp="1"/>
          </p:cNvSpPr>
          <p:nvPr/>
        </p:nvSpPr>
        <p:spPr>
          <a:xfrm>
            <a:off x="6324600" y="4171950"/>
            <a:ext cx="2286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7FBFF"/>
                </a:solidFill>
              </a:defRPr>
            </a:pPr>
            <a:r>
              <a:rPr sz="1200" b="1">
                <a:solidFill>
                  <a:srgbClr val="F7FBFF"/>
                </a:solidFill>
              </a:rPr>
              <a:t>Find Teachers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AECB075-8050-4644-BB0C-37BB0A91EDDB}"/>
              </a:ext>
            </a:extLst>
          </p:cNvPr>
          <p:cNvSpPr>
            <a:spLocks noGrp="1"/>
          </p:cNvSpPr>
          <p:nvPr/>
        </p:nvSpPr>
        <p:spPr>
          <a:xfrm>
            <a:off x="8915400" y="3981450"/>
            <a:ext cx="2590800" cy="781050"/>
          </a:xfrm>
          <a:prstGeom prst="roundRect">
            <a:avLst>
              <a:gd name="adj" fmla="val 9756"/>
            </a:avLst>
          </a:prstGeom>
          <a:solidFill>
            <a:srgbClr val="11263B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5BA7EC4-30C9-4E3D-AE23-9E66ACA8ECBB}"/>
              </a:ext>
            </a:extLst>
          </p:cNvPr>
          <p:cNvSpPr>
            <a:spLocks noGrp="1"/>
          </p:cNvSpPr>
          <p:nvPr/>
        </p:nvSpPr>
        <p:spPr>
          <a:xfrm>
            <a:off x="8915400" y="3981450"/>
            <a:ext cx="2590800" cy="38100"/>
          </a:xfrm>
          <a:prstGeom prst="rect">
            <a:avLst/>
          </a:prstGeom>
          <a:solidFill>
            <a:srgbClr val="4CB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6326589-B095-429B-9E41-92E20FC9109D}"/>
              </a:ext>
            </a:extLst>
          </p:cNvPr>
          <p:cNvSpPr>
            <a:spLocks noGrp="1"/>
          </p:cNvSpPr>
          <p:nvPr/>
        </p:nvSpPr>
        <p:spPr>
          <a:xfrm>
            <a:off x="9067800" y="4171950"/>
            <a:ext cx="2286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7FBFF"/>
                </a:solidFill>
              </a:defRPr>
            </a:pPr>
            <a:r>
              <a:rPr sz="1200" b="1">
                <a:solidFill>
                  <a:srgbClr val="F7FBFF"/>
                </a:solidFill>
              </a:rPr>
              <a:t>Doubts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C5A4D159-195F-4E0E-A677-DB05FC5C4D7F}"/>
              </a:ext>
            </a:extLst>
          </p:cNvPr>
          <p:cNvSpPr>
            <a:spLocks noGrp="1"/>
          </p:cNvSpPr>
          <p:nvPr/>
        </p:nvSpPr>
        <p:spPr>
          <a:xfrm>
            <a:off x="685800" y="4914900"/>
            <a:ext cx="2590800" cy="781050"/>
          </a:xfrm>
          <a:prstGeom prst="roundRect">
            <a:avLst>
              <a:gd name="adj" fmla="val 9756"/>
            </a:avLst>
          </a:prstGeom>
          <a:solidFill>
            <a:srgbClr val="11263B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DCAA641-8C6A-4D30-AB74-FD6B52023812}"/>
              </a:ext>
            </a:extLst>
          </p:cNvPr>
          <p:cNvSpPr>
            <a:spLocks noGrp="1"/>
          </p:cNvSpPr>
          <p:nvPr/>
        </p:nvSpPr>
        <p:spPr>
          <a:xfrm>
            <a:off x="685800" y="4914900"/>
            <a:ext cx="2590800" cy="38100"/>
          </a:xfrm>
          <a:prstGeom prst="rect">
            <a:avLst/>
          </a:prstGeom>
          <a:solidFill>
            <a:srgbClr val="2F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757ED78-20AD-452A-B6B5-54A99D93A386}"/>
              </a:ext>
            </a:extLst>
          </p:cNvPr>
          <p:cNvSpPr>
            <a:spLocks noGrp="1"/>
          </p:cNvSpPr>
          <p:nvPr/>
        </p:nvSpPr>
        <p:spPr>
          <a:xfrm>
            <a:off x="838200" y="5105400"/>
            <a:ext cx="2286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7FBFF"/>
                </a:solidFill>
              </a:defRPr>
            </a:pPr>
            <a:r>
              <a:rPr sz="1200" b="1">
                <a:solidFill>
                  <a:srgbClr val="F7FBFF"/>
                </a:solidFill>
              </a:rPr>
              <a:t>Chat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BC99B454-BB14-4D8E-A673-E2C57EADEB72}"/>
              </a:ext>
            </a:extLst>
          </p:cNvPr>
          <p:cNvSpPr>
            <a:spLocks noGrp="1"/>
          </p:cNvSpPr>
          <p:nvPr/>
        </p:nvSpPr>
        <p:spPr>
          <a:xfrm>
            <a:off x="3429000" y="4914900"/>
            <a:ext cx="2590800" cy="781050"/>
          </a:xfrm>
          <a:prstGeom prst="roundRect">
            <a:avLst>
              <a:gd name="adj" fmla="val 9756"/>
            </a:avLst>
          </a:prstGeom>
          <a:solidFill>
            <a:srgbClr val="11263B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B630177-F03E-498C-8B6D-94BFD045A993}"/>
              </a:ext>
            </a:extLst>
          </p:cNvPr>
          <p:cNvSpPr>
            <a:spLocks noGrp="1"/>
          </p:cNvSpPr>
          <p:nvPr/>
        </p:nvSpPr>
        <p:spPr>
          <a:xfrm>
            <a:off x="3429000" y="4914900"/>
            <a:ext cx="2590800" cy="38100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3C48EB6-7E52-419E-B7CB-C132DA963F8C}"/>
              </a:ext>
            </a:extLst>
          </p:cNvPr>
          <p:cNvSpPr>
            <a:spLocks noGrp="1"/>
          </p:cNvSpPr>
          <p:nvPr/>
        </p:nvSpPr>
        <p:spPr>
          <a:xfrm>
            <a:off x="3581400" y="5105400"/>
            <a:ext cx="2286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7FBFF"/>
                </a:solidFill>
              </a:defRPr>
            </a:pPr>
            <a:r>
              <a:rPr sz="1200" b="1">
                <a:solidFill>
                  <a:srgbClr val="F7FBFF"/>
                </a:solidFill>
              </a:rPr>
              <a:t>Notice Board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20FF0E3B-8715-4EE7-BD68-E8CC24E605AC}"/>
              </a:ext>
            </a:extLst>
          </p:cNvPr>
          <p:cNvSpPr>
            <a:spLocks noGrp="1"/>
          </p:cNvSpPr>
          <p:nvPr/>
        </p:nvSpPr>
        <p:spPr>
          <a:xfrm>
            <a:off x="6172200" y="4914900"/>
            <a:ext cx="2590800" cy="781050"/>
          </a:xfrm>
          <a:prstGeom prst="roundRect">
            <a:avLst>
              <a:gd name="adj" fmla="val 9756"/>
            </a:avLst>
          </a:prstGeom>
          <a:solidFill>
            <a:srgbClr val="11263B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EBBB831-96A2-475B-91D4-30EC696EA95F}"/>
              </a:ext>
            </a:extLst>
          </p:cNvPr>
          <p:cNvSpPr>
            <a:spLocks noGrp="1"/>
          </p:cNvSpPr>
          <p:nvPr/>
        </p:nvSpPr>
        <p:spPr>
          <a:xfrm>
            <a:off x="6172200" y="4914900"/>
            <a:ext cx="2590800" cy="38100"/>
          </a:xfrm>
          <a:prstGeom prst="rect">
            <a:avLst/>
          </a:prstGeom>
          <a:solidFill>
            <a:srgbClr val="4CB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EB72AC2-7D45-4A5A-B98F-90B146BFDAF5}"/>
              </a:ext>
            </a:extLst>
          </p:cNvPr>
          <p:cNvSpPr>
            <a:spLocks noGrp="1"/>
          </p:cNvSpPr>
          <p:nvPr/>
        </p:nvSpPr>
        <p:spPr>
          <a:xfrm>
            <a:off x="6324600" y="5105400"/>
            <a:ext cx="2286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7FBFF"/>
                </a:solidFill>
              </a:defRPr>
            </a:pPr>
            <a:r>
              <a:rPr sz="1200" b="1">
                <a:solidFill>
                  <a:srgbClr val="F7FBFF"/>
                </a:solidFill>
              </a:rPr>
              <a:t>Exam Bulletin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D3C923B4-9627-4B6C-9270-E6CFD351C12D}"/>
              </a:ext>
            </a:extLst>
          </p:cNvPr>
          <p:cNvSpPr>
            <a:spLocks noGrp="1"/>
          </p:cNvSpPr>
          <p:nvPr/>
        </p:nvSpPr>
        <p:spPr>
          <a:xfrm>
            <a:off x="8915400" y="4914900"/>
            <a:ext cx="2590800" cy="781050"/>
          </a:xfrm>
          <a:prstGeom prst="roundRect">
            <a:avLst>
              <a:gd name="adj" fmla="val 9756"/>
            </a:avLst>
          </a:prstGeom>
          <a:solidFill>
            <a:srgbClr val="11263B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29DD5F2-F2ED-41FB-ADDE-28ABAF781DDD}"/>
              </a:ext>
            </a:extLst>
          </p:cNvPr>
          <p:cNvSpPr>
            <a:spLocks noGrp="1"/>
          </p:cNvSpPr>
          <p:nvPr/>
        </p:nvSpPr>
        <p:spPr>
          <a:xfrm>
            <a:off x="8915400" y="4914900"/>
            <a:ext cx="2590800" cy="38100"/>
          </a:xfrm>
          <a:prstGeom prst="rect">
            <a:avLst/>
          </a:prstGeom>
          <a:solidFill>
            <a:srgbClr val="2F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0BF642D-6A72-490A-8C0A-0EAFE715EC4B}"/>
              </a:ext>
            </a:extLst>
          </p:cNvPr>
          <p:cNvSpPr>
            <a:spLocks noGrp="1"/>
          </p:cNvSpPr>
          <p:nvPr/>
        </p:nvSpPr>
        <p:spPr>
          <a:xfrm>
            <a:off x="9067800" y="5105400"/>
            <a:ext cx="2286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7FBFF"/>
                </a:solidFill>
              </a:defRPr>
            </a:pPr>
            <a:r>
              <a:rPr sz="1200" b="1">
                <a:solidFill>
                  <a:srgbClr val="F7FBFF"/>
                </a:solidFill>
              </a:rPr>
              <a:t>Progress Tools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E015A34C-767F-4B06-B0B7-BA631777BF82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820400" cy="381000"/>
          </a:xfrm>
          <a:prstGeom prst="roundRect">
            <a:avLst>
              <a:gd name="adj" fmla="val 20000"/>
            </a:avLst>
          </a:prstGeom>
          <a:solidFill>
            <a:srgbClr val="0A1824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C1A94EE-B5B0-4B27-BA67-4C19F3BF79BF}"/>
              </a:ext>
            </a:extLst>
          </p:cNvPr>
          <p:cNvSpPr>
            <a:spLocks noGrp="1"/>
          </p:cNvSpPr>
          <p:nvPr/>
        </p:nvSpPr>
        <p:spPr>
          <a:xfrm>
            <a:off x="857250" y="5734050"/>
            <a:ext cx="10477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C7D8E8"/>
                </a:solidFill>
              </a:defRPr>
            </a:pPr>
            <a:r>
              <a:rPr sz="825" b="0">
                <a:solidFill>
                  <a:srgbClr val="C7D8E8"/>
                </a:solidFill>
              </a:rPr>
              <a:t>Start with the tools you need most, then add more as your preparation grows.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456C338-60F2-4C14-B32E-781284527C5A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905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dcamclasses.in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F5D7858-867D-4877-99A4-F57A13B91FAD}"/>
              </a:ext>
            </a:extLst>
          </p:cNvPr>
          <p:cNvSpPr>
            <a:spLocks noGrp="1"/>
          </p:cNvSpPr>
          <p:nvPr/>
        </p:nvSpPr>
        <p:spPr>
          <a:xfrm>
            <a:off x="9525000" y="6286500"/>
            <a:ext cx="1981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Student Seminar Guide</a:t>
            </a:r>
          </a:p>
        </p:txBody>
      </p:sp>
    </p:spTree>
    <p:extLst>
      <p:ext uri="{BB962C8B-B14F-4D97-AF65-F5344CB8AC3E}">
        <p14:creationId xmlns:p14="http://schemas.microsoft.com/office/powerpoint/2010/main" val="379281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0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5">
            <a:extLst>
              <a:ext uri="{FF2B5EF4-FFF2-40B4-BE49-F238E27FC236}">
                <a16:creationId xmlns:a16="http://schemas.microsoft.com/office/drawing/2014/main" id="{0701CD60-24C2-4FCA-9ECA-67F66B848ED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F0F38E-50D7-4EEE-8DB5-3D3D13B7F06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10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B6272AA-7729-4C4E-861D-F4BA61725EC2}"/>
              </a:ext>
            </a:extLst>
          </p:cNvPr>
          <p:cNvSpPr>
            <a:spLocks noGrp="1"/>
          </p:cNvSpPr>
          <p:nvPr/>
        </p:nvSpPr>
        <p:spPr>
          <a:xfrm>
            <a:off x="-1333500" y="-1143000"/>
            <a:ext cx="4000500" cy="4000500"/>
          </a:xfrm>
          <a:prstGeom prst="ellipse">
            <a:avLst/>
          </a:prstGeom>
          <a:solidFill>
            <a:srgbClr val="0C2C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22B610C-97CC-4168-A9D7-5969083184C5}"/>
              </a:ext>
            </a:extLst>
          </p:cNvPr>
          <p:cNvSpPr>
            <a:spLocks noGrp="1"/>
          </p:cNvSpPr>
          <p:nvPr/>
        </p:nvSpPr>
        <p:spPr>
          <a:xfrm>
            <a:off x="8572500" y="-1143000"/>
            <a:ext cx="3429000" cy="3429000"/>
          </a:xfrm>
          <a:prstGeom prst="ellipse">
            <a:avLst/>
          </a:prstGeom>
          <a:solidFill>
            <a:srgbClr val="0E2C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077340D-BC27-43CE-8E39-D850553342D4}"/>
              </a:ext>
            </a:extLst>
          </p:cNvPr>
          <p:cNvSpPr>
            <a:spLocks noGrp="1"/>
          </p:cNvSpPr>
          <p:nvPr/>
        </p:nvSpPr>
        <p:spPr>
          <a:xfrm>
            <a:off x="8382000" y="4095750"/>
            <a:ext cx="4762500" cy="4762500"/>
          </a:xfrm>
          <a:prstGeom prst="ellipse">
            <a:avLst/>
          </a:prstGeom>
          <a:solidFill>
            <a:srgbClr val="0A2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6AA99C-169F-42A3-8815-2BA8AD903D3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111B">
              <a:alpha val="8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D7B338-AF92-4206-A8A0-CD22613655C9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809750" cy="47625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1D62FE-8913-4D2D-87EC-7A7E6DF61318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10820400" cy="9525"/>
          </a:xfrm>
          <a:prstGeom prst="rect">
            <a:avLst/>
          </a:prstGeom>
          <a:solidFill>
            <a:srgbClr val="1A36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8EBE13-B811-4332-ABE4-C3A568E5FA2C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73D8FF"/>
                </a:solidFill>
              </a:defRPr>
            </a:pPr>
            <a:r>
              <a:rPr sz="825" b="1">
                <a:solidFill>
                  <a:srgbClr val="73D8FF"/>
                </a:solidFill>
              </a:rPr>
              <a:t>STEP 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A93C7B-CBFE-4451-AB1B-BFCA4BF72199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19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C7D8E8"/>
                </a:solidFill>
              </a:defRPr>
            </a:pPr>
            <a:r>
              <a:rPr sz="825" b="1">
                <a:solidFill>
                  <a:srgbClr val="C7D8E8"/>
                </a:solidFill>
              </a:rPr>
              <a:t>06 / 12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A2AB6FB-A12E-4F87-B50A-68177A11865E}"/>
              </a:ext>
            </a:extLst>
          </p:cNvPr>
          <p:cNvSpPr>
            <a:spLocks noGrp="1"/>
          </p:cNvSpPr>
          <p:nvPr/>
        </p:nvSpPr>
        <p:spPr>
          <a:xfrm>
            <a:off x="10267950" y="571500"/>
            <a:ext cx="1066800" cy="1066800"/>
          </a:xfrm>
          <a:prstGeom prst="roundRect">
            <a:avLst>
              <a:gd name="adj" fmla="val 7143"/>
            </a:avLst>
          </a:prstGeom>
          <a:solidFill>
            <a:srgbClr val="0D2032"/>
          </a:solidFill>
          <a:ln w="9525">
            <a:solidFill>
              <a:srgbClr val="1A3650"/>
            </a:solidFill>
            <a:prstDash val="solid"/>
          </a:ln>
        </p:spPr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63200" y="702264"/>
            <a:ext cx="876300" cy="80527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F8F378B-D3D5-451E-9041-358BFCB9E868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8096250" cy="1181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Create Your Account And Open</a:t>
            </a:r>
          </a:p>
          <a:p>
            <a:pPr algn="l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Dashboard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320A15-25CD-49AA-A6BE-8BD4E6BC68C8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7429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7D8E8"/>
                </a:solidFill>
              </a:defRPr>
            </a:pPr>
            <a:r>
              <a:rPr sz="1350" b="0">
                <a:solidFill>
                  <a:srgbClr val="C7D8E8"/>
                </a:solidFill>
              </a:rPr>
              <a:t>Before using any learning tools, first set up your account correctly.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7DB1A47-5518-42AB-90E9-5C7D19789346}"/>
              </a:ext>
            </a:extLst>
          </p:cNvPr>
          <p:cNvSpPr>
            <a:spLocks noGrp="1"/>
          </p:cNvSpPr>
          <p:nvPr/>
        </p:nvSpPr>
        <p:spPr>
          <a:xfrm>
            <a:off x="685800" y="3162300"/>
            <a:ext cx="2590800" cy="2019300"/>
          </a:xfrm>
          <a:prstGeom prst="roundRect">
            <a:avLst>
              <a:gd name="adj" fmla="val 3774"/>
            </a:avLst>
          </a:prstGeom>
          <a:solidFill>
            <a:srgbClr val="11263B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BE8A4A4-CB48-4827-BB6D-BB984FD47F8E}"/>
              </a:ext>
            </a:extLst>
          </p:cNvPr>
          <p:cNvSpPr>
            <a:spLocks noGrp="1"/>
          </p:cNvSpPr>
          <p:nvPr/>
        </p:nvSpPr>
        <p:spPr>
          <a:xfrm>
            <a:off x="857250" y="3333750"/>
            <a:ext cx="400050" cy="400050"/>
          </a:xfrm>
          <a:prstGeom prst="ellipse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A73523-37E5-4894-A464-687DAFD03FC6}"/>
              </a:ext>
            </a:extLst>
          </p:cNvPr>
          <p:cNvSpPr>
            <a:spLocks noGrp="1"/>
          </p:cNvSpPr>
          <p:nvPr/>
        </p:nvSpPr>
        <p:spPr>
          <a:xfrm>
            <a:off x="981075" y="34385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81827"/>
                </a:solidFill>
              </a:defRPr>
            </a:pPr>
            <a:r>
              <a:rPr sz="975" b="1">
                <a:solidFill>
                  <a:srgbClr val="081827"/>
                </a:solidFill>
              </a:rPr>
              <a:t>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22084E6-1D35-4982-83A4-B6109AE09F16}"/>
              </a:ext>
            </a:extLst>
          </p:cNvPr>
          <p:cNvSpPr>
            <a:spLocks noGrp="1"/>
          </p:cNvSpPr>
          <p:nvPr/>
        </p:nvSpPr>
        <p:spPr>
          <a:xfrm>
            <a:off x="1371600" y="3371850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3D8FF"/>
                </a:solidFill>
              </a:defRPr>
            </a:pPr>
            <a:r>
              <a:rPr sz="1125" b="1">
                <a:solidFill>
                  <a:srgbClr val="73D8FF"/>
                </a:solidFill>
              </a:rPr>
              <a:t>Open Signup Or</a:t>
            </a:r>
          </a:p>
          <a:p>
            <a:pPr algn="l">
              <a:defRPr sz="1125" b="1">
                <a:solidFill>
                  <a:srgbClr val="73D8FF"/>
                </a:solidFill>
              </a:defRPr>
            </a:pPr>
            <a:r>
              <a:rPr sz="1125" b="1">
                <a:solidFill>
                  <a:srgbClr val="73D8FF"/>
                </a:solidFill>
              </a:rPr>
              <a:t>Login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0E98DF1-0ACB-4D7B-982E-05839F970DBD}"/>
              </a:ext>
            </a:extLst>
          </p:cNvPr>
          <p:cNvSpPr>
            <a:spLocks noGrp="1"/>
          </p:cNvSpPr>
          <p:nvPr/>
        </p:nvSpPr>
        <p:spPr>
          <a:xfrm>
            <a:off x="857250" y="3943350"/>
            <a:ext cx="22479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Visit DCAM Classes and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choose Signup if you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are new or Login if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you already have an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account.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2AB493C-FE8E-4635-82CD-45390E67B5AA}"/>
              </a:ext>
            </a:extLst>
          </p:cNvPr>
          <p:cNvSpPr>
            <a:spLocks noGrp="1"/>
          </p:cNvSpPr>
          <p:nvPr/>
        </p:nvSpPr>
        <p:spPr>
          <a:xfrm>
            <a:off x="3429000" y="3162300"/>
            <a:ext cx="2590800" cy="2019300"/>
          </a:xfrm>
          <a:prstGeom prst="roundRect">
            <a:avLst>
              <a:gd name="adj" fmla="val 3774"/>
            </a:avLst>
          </a:prstGeom>
          <a:solidFill>
            <a:srgbClr val="11263B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134439A-2B3E-4A7A-B14D-E03A10A526E3}"/>
              </a:ext>
            </a:extLst>
          </p:cNvPr>
          <p:cNvSpPr>
            <a:spLocks noGrp="1"/>
          </p:cNvSpPr>
          <p:nvPr/>
        </p:nvSpPr>
        <p:spPr>
          <a:xfrm>
            <a:off x="3600450" y="3333750"/>
            <a:ext cx="400050" cy="400050"/>
          </a:xfrm>
          <a:prstGeom prst="ellipse">
            <a:avLst/>
          </a:prstGeom>
          <a:solidFill>
            <a:srgbClr val="4CB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73FDC7F-1025-49CF-A12D-48C21FE279D8}"/>
              </a:ext>
            </a:extLst>
          </p:cNvPr>
          <p:cNvSpPr>
            <a:spLocks noGrp="1"/>
          </p:cNvSpPr>
          <p:nvPr/>
        </p:nvSpPr>
        <p:spPr>
          <a:xfrm>
            <a:off x="3724275" y="34385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81827"/>
                </a:solidFill>
              </a:defRPr>
            </a:pPr>
            <a:r>
              <a:rPr sz="975" b="1">
                <a:solidFill>
                  <a:srgbClr val="081827"/>
                </a:solidFill>
              </a:rPr>
              <a:t>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2E3253B-9790-4A0C-B771-ED4E7B941285}"/>
              </a:ext>
            </a:extLst>
          </p:cNvPr>
          <p:cNvSpPr>
            <a:spLocks noGrp="1"/>
          </p:cNvSpPr>
          <p:nvPr/>
        </p:nvSpPr>
        <p:spPr>
          <a:xfrm>
            <a:off x="4114800" y="3371850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3D8FF"/>
                </a:solidFill>
              </a:defRPr>
            </a:pPr>
            <a:r>
              <a:rPr sz="1125" b="1">
                <a:solidFill>
                  <a:srgbClr val="73D8FF"/>
                </a:solidFill>
              </a:rPr>
              <a:t>Choose Student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8AB81D1-E562-4607-A645-E4EDEE879D9C}"/>
              </a:ext>
            </a:extLst>
          </p:cNvPr>
          <p:cNvSpPr>
            <a:spLocks noGrp="1"/>
          </p:cNvSpPr>
          <p:nvPr/>
        </p:nvSpPr>
        <p:spPr>
          <a:xfrm>
            <a:off x="3600450" y="3943350"/>
            <a:ext cx="22479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Select Student and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fill your name, email,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phone number, and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password, or use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Google login.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531DEE3-D450-4118-9271-E236C42CAD24}"/>
              </a:ext>
            </a:extLst>
          </p:cNvPr>
          <p:cNvSpPr>
            <a:spLocks noGrp="1"/>
          </p:cNvSpPr>
          <p:nvPr/>
        </p:nvSpPr>
        <p:spPr>
          <a:xfrm>
            <a:off x="6172200" y="3162300"/>
            <a:ext cx="2590800" cy="2019300"/>
          </a:xfrm>
          <a:prstGeom prst="roundRect">
            <a:avLst>
              <a:gd name="adj" fmla="val 3774"/>
            </a:avLst>
          </a:prstGeom>
          <a:solidFill>
            <a:srgbClr val="11263B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06F18FD-5A6A-43C2-96CB-3A82A0B65296}"/>
              </a:ext>
            </a:extLst>
          </p:cNvPr>
          <p:cNvSpPr>
            <a:spLocks noGrp="1"/>
          </p:cNvSpPr>
          <p:nvPr/>
        </p:nvSpPr>
        <p:spPr>
          <a:xfrm>
            <a:off x="6343650" y="3333750"/>
            <a:ext cx="400050" cy="400050"/>
          </a:xfrm>
          <a:prstGeom prst="ellipse">
            <a:avLst/>
          </a:prstGeom>
          <a:solidFill>
            <a:srgbClr val="2F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F098325-B261-4395-8272-F7DDB93611AC}"/>
              </a:ext>
            </a:extLst>
          </p:cNvPr>
          <p:cNvSpPr>
            <a:spLocks noGrp="1"/>
          </p:cNvSpPr>
          <p:nvPr/>
        </p:nvSpPr>
        <p:spPr>
          <a:xfrm>
            <a:off x="6467475" y="34385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81827"/>
                </a:solidFill>
              </a:defRPr>
            </a:pPr>
            <a:r>
              <a:rPr sz="975" b="1">
                <a:solidFill>
                  <a:srgbClr val="081827"/>
                </a:solidFill>
              </a:rPr>
              <a:t>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110F968-A7F3-4414-8081-8A92F516C277}"/>
              </a:ext>
            </a:extLst>
          </p:cNvPr>
          <p:cNvSpPr>
            <a:spLocks noGrp="1"/>
          </p:cNvSpPr>
          <p:nvPr/>
        </p:nvSpPr>
        <p:spPr>
          <a:xfrm>
            <a:off x="6858000" y="3371850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3D8FF"/>
                </a:solidFill>
              </a:defRPr>
            </a:pPr>
            <a:r>
              <a:rPr sz="1125" b="1">
                <a:solidFill>
                  <a:srgbClr val="73D8FF"/>
                </a:solidFill>
              </a:rPr>
              <a:t>Open Dashboard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B602D28-9D17-4955-A4CD-448B4301F533}"/>
              </a:ext>
            </a:extLst>
          </p:cNvPr>
          <p:cNvSpPr>
            <a:spLocks noGrp="1"/>
          </p:cNvSpPr>
          <p:nvPr/>
        </p:nvSpPr>
        <p:spPr>
          <a:xfrm>
            <a:off x="6343650" y="3943350"/>
            <a:ext cx="22479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After login, go to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Dashboard. This is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your main starting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page for student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tools.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5EA82F6-74CA-4975-9F10-D65B44A542B9}"/>
              </a:ext>
            </a:extLst>
          </p:cNvPr>
          <p:cNvSpPr>
            <a:spLocks noGrp="1"/>
          </p:cNvSpPr>
          <p:nvPr/>
        </p:nvSpPr>
        <p:spPr>
          <a:xfrm>
            <a:off x="8915400" y="3162300"/>
            <a:ext cx="2590800" cy="2019300"/>
          </a:xfrm>
          <a:prstGeom prst="roundRect">
            <a:avLst>
              <a:gd name="adj" fmla="val 3774"/>
            </a:avLst>
          </a:prstGeom>
          <a:solidFill>
            <a:srgbClr val="11263B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F7567EB-070C-4D42-98C9-F541FA803011}"/>
              </a:ext>
            </a:extLst>
          </p:cNvPr>
          <p:cNvSpPr>
            <a:spLocks noGrp="1"/>
          </p:cNvSpPr>
          <p:nvPr/>
        </p:nvSpPr>
        <p:spPr>
          <a:xfrm>
            <a:off x="9086850" y="3333750"/>
            <a:ext cx="400050" cy="400050"/>
          </a:xfrm>
          <a:prstGeom prst="ellipse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E5AFC4D-CF05-44E5-9189-95193710CC62}"/>
              </a:ext>
            </a:extLst>
          </p:cNvPr>
          <p:cNvSpPr>
            <a:spLocks noGrp="1"/>
          </p:cNvSpPr>
          <p:nvPr/>
        </p:nvSpPr>
        <p:spPr>
          <a:xfrm>
            <a:off x="9210675" y="34385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81827"/>
                </a:solidFill>
              </a:defRPr>
            </a:pPr>
            <a:r>
              <a:rPr sz="975" b="1">
                <a:solidFill>
                  <a:srgbClr val="081827"/>
                </a:solidFill>
              </a:rPr>
              <a:t>4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C3A0AED-3CC4-427E-96BD-43C0B3CDA17A}"/>
              </a:ext>
            </a:extLst>
          </p:cNvPr>
          <p:cNvSpPr>
            <a:spLocks noGrp="1"/>
          </p:cNvSpPr>
          <p:nvPr/>
        </p:nvSpPr>
        <p:spPr>
          <a:xfrm>
            <a:off x="9601200" y="3371850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3D8FF"/>
                </a:solidFill>
              </a:defRPr>
            </a:pPr>
            <a:r>
              <a:rPr sz="1125" b="1">
                <a:solidFill>
                  <a:srgbClr val="73D8FF"/>
                </a:solidFill>
              </a:rPr>
              <a:t>Check Profile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E59A499-548C-43A3-8E8C-0181EDE2B151}"/>
              </a:ext>
            </a:extLst>
          </p:cNvPr>
          <p:cNvSpPr>
            <a:spLocks noGrp="1"/>
          </p:cNvSpPr>
          <p:nvPr/>
        </p:nvSpPr>
        <p:spPr>
          <a:xfrm>
            <a:off x="9086850" y="3943350"/>
            <a:ext cx="22479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Keep your details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correct so your study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record stays clear and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organized.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5C771182-FE58-427D-9E7B-82C0F520A09A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820400" cy="381000"/>
          </a:xfrm>
          <a:prstGeom prst="roundRect">
            <a:avLst>
              <a:gd name="adj" fmla="val 20000"/>
            </a:avLst>
          </a:prstGeom>
          <a:solidFill>
            <a:srgbClr val="0A1824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A05C6AD-6397-4D2F-BAFE-0C4AAFF9048B}"/>
              </a:ext>
            </a:extLst>
          </p:cNvPr>
          <p:cNvSpPr>
            <a:spLocks noGrp="1"/>
          </p:cNvSpPr>
          <p:nvPr/>
        </p:nvSpPr>
        <p:spPr>
          <a:xfrm>
            <a:off x="857250" y="5734050"/>
            <a:ext cx="10477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C7D8E8"/>
                </a:solidFill>
              </a:defRPr>
            </a:pPr>
            <a:r>
              <a:rPr sz="825" b="0">
                <a:solidFill>
                  <a:srgbClr val="C7D8E8"/>
                </a:solidFill>
              </a:rPr>
              <a:t>Your Dashboard is the first page you should understand well.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82F7F22-34CA-4CCA-A1B0-FF575918C33C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905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dcamclasses.in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997BE80-EB8A-4234-BB35-95CD626493DA}"/>
              </a:ext>
            </a:extLst>
          </p:cNvPr>
          <p:cNvSpPr>
            <a:spLocks noGrp="1"/>
          </p:cNvSpPr>
          <p:nvPr/>
        </p:nvSpPr>
        <p:spPr>
          <a:xfrm>
            <a:off x="9525000" y="6286500"/>
            <a:ext cx="1981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Student Seminar Guide</a:t>
            </a:r>
          </a:p>
        </p:txBody>
      </p:sp>
    </p:spTree>
    <p:extLst>
      <p:ext uri="{BB962C8B-B14F-4D97-AF65-F5344CB8AC3E}">
        <p14:creationId xmlns:p14="http://schemas.microsoft.com/office/powerpoint/2010/main" val="1288216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0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5">
            <a:extLst>
              <a:ext uri="{FF2B5EF4-FFF2-40B4-BE49-F238E27FC236}">
                <a16:creationId xmlns:a16="http://schemas.microsoft.com/office/drawing/2014/main" id="{0701CD60-24C2-4FCA-9ECA-67F66B848ED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8EB99D-6983-4F16-B415-F5CE4A98528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10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29AD424-E002-45C7-AA72-E77D0CD4D9B0}"/>
              </a:ext>
            </a:extLst>
          </p:cNvPr>
          <p:cNvSpPr>
            <a:spLocks noGrp="1"/>
          </p:cNvSpPr>
          <p:nvPr/>
        </p:nvSpPr>
        <p:spPr>
          <a:xfrm>
            <a:off x="-1333500" y="-1143000"/>
            <a:ext cx="4000500" cy="4000500"/>
          </a:xfrm>
          <a:prstGeom prst="ellipse">
            <a:avLst/>
          </a:prstGeom>
          <a:solidFill>
            <a:srgbClr val="0C2C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D8B3BFE-F078-46D9-A90E-206395F4007E}"/>
              </a:ext>
            </a:extLst>
          </p:cNvPr>
          <p:cNvSpPr>
            <a:spLocks noGrp="1"/>
          </p:cNvSpPr>
          <p:nvPr/>
        </p:nvSpPr>
        <p:spPr>
          <a:xfrm>
            <a:off x="8572500" y="-1143000"/>
            <a:ext cx="3429000" cy="3429000"/>
          </a:xfrm>
          <a:prstGeom prst="ellipse">
            <a:avLst/>
          </a:prstGeom>
          <a:solidFill>
            <a:srgbClr val="0E2C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2AB07C9-D9CD-464E-8177-09341601CE7E}"/>
              </a:ext>
            </a:extLst>
          </p:cNvPr>
          <p:cNvSpPr>
            <a:spLocks noGrp="1"/>
          </p:cNvSpPr>
          <p:nvPr/>
        </p:nvSpPr>
        <p:spPr>
          <a:xfrm>
            <a:off x="8382000" y="4095750"/>
            <a:ext cx="4762500" cy="4762500"/>
          </a:xfrm>
          <a:prstGeom prst="ellipse">
            <a:avLst/>
          </a:prstGeom>
          <a:solidFill>
            <a:srgbClr val="0A2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ACB71D-AED8-4807-B599-BCF5257936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111B">
              <a:alpha val="8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726D78-2CCF-4635-A196-7295D70AEEFE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809750" cy="47625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7EC77A-585F-41DA-ADC3-8CA1D1A57748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10820400" cy="9525"/>
          </a:xfrm>
          <a:prstGeom prst="rect">
            <a:avLst/>
          </a:prstGeom>
          <a:solidFill>
            <a:srgbClr val="1A36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5C565D-8AB3-4B0A-A3D8-47FF8D8D7EA7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73D8FF"/>
                </a:solidFill>
              </a:defRPr>
            </a:pPr>
            <a:r>
              <a:rPr sz="825" b="1">
                <a:solidFill>
                  <a:srgbClr val="73D8FF"/>
                </a:solidFill>
              </a:rPr>
              <a:t>STEP 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BAED44-5156-4C19-AB89-8849CC581102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19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C7D8E8"/>
                </a:solidFill>
              </a:defRPr>
            </a:pPr>
            <a:r>
              <a:rPr sz="825" b="1">
                <a:solidFill>
                  <a:srgbClr val="C7D8E8"/>
                </a:solidFill>
              </a:rPr>
              <a:t>07 / 12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EFBEAC0-03BA-4B58-A435-4251959F59BA}"/>
              </a:ext>
            </a:extLst>
          </p:cNvPr>
          <p:cNvSpPr>
            <a:spLocks noGrp="1"/>
          </p:cNvSpPr>
          <p:nvPr/>
        </p:nvSpPr>
        <p:spPr>
          <a:xfrm>
            <a:off x="10267950" y="571500"/>
            <a:ext cx="1066800" cy="1066800"/>
          </a:xfrm>
          <a:prstGeom prst="roundRect">
            <a:avLst>
              <a:gd name="adj" fmla="val 7143"/>
            </a:avLst>
          </a:prstGeom>
          <a:solidFill>
            <a:srgbClr val="0D2032"/>
          </a:solidFill>
          <a:ln w="9525">
            <a:solidFill>
              <a:srgbClr val="1A3650"/>
            </a:solidFill>
            <a:prstDash val="solid"/>
          </a:ln>
        </p:spPr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63200" y="702264"/>
            <a:ext cx="876300" cy="80527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5D4142E-186E-4BA7-A789-364D478B4233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8096250" cy="1181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Choose What You Need First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DC7049-D82B-483E-918A-0A056B4511F9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7429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7D8E8"/>
                </a:solidFill>
              </a:defRPr>
            </a:pPr>
            <a:r>
              <a:rPr sz="1350" b="0">
                <a:solidFill>
                  <a:srgbClr val="C7D8E8"/>
                </a:solidFill>
              </a:rPr>
              <a:t>Do not try everything together. Start with the feature that matches your</a:t>
            </a:r>
          </a:p>
          <a:p>
            <a:pPr algn="l">
              <a:defRPr sz="1350" b="0">
                <a:solidFill>
                  <a:srgbClr val="C7D8E8"/>
                </a:solidFill>
              </a:defRPr>
            </a:pPr>
            <a:r>
              <a:rPr sz="1350" b="0">
                <a:solidFill>
                  <a:srgbClr val="C7D8E8"/>
                </a:solidFill>
              </a:rPr>
              <a:t>need.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434539C-D2E2-421E-9992-02B653CD3122}"/>
              </a:ext>
            </a:extLst>
          </p:cNvPr>
          <p:cNvSpPr>
            <a:spLocks noGrp="1"/>
          </p:cNvSpPr>
          <p:nvPr/>
        </p:nvSpPr>
        <p:spPr>
          <a:xfrm>
            <a:off x="685800" y="3162300"/>
            <a:ext cx="2590800" cy="2019300"/>
          </a:xfrm>
          <a:prstGeom prst="roundRect">
            <a:avLst>
              <a:gd name="adj" fmla="val 3774"/>
            </a:avLst>
          </a:prstGeom>
          <a:solidFill>
            <a:srgbClr val="11263B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AEBCC77-17E9-4D73-9AE5-20C6A9B2D0B9}"/>
              </a:ext>
            </a:extLst>
          </p:cNvPr>
          <p:cNvSpPr>
            <a:spLocks noGrp="1"/>
          </p:cNvSpPr>
          <p:nvPr/>
        </p:nvSpPr>
        <p:spPr>
          <a:xfrm>
            <a:off x="857250" y="3333750"/>
            <a:ext cx="400050" cy="400050"/>
          </a:xfrm>
          <a:prstGeom prst="ellipse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13B7913-F00C-45DF-B6F6-404F31359021}"/>
              </a:ext>
            </a:extLst>
          </p:cNvPr>
          <p:cNvSpPr>
            <a:spLocks noGrp="1"/>
          </p:cNvSpPr>
          <p:nvPr/>
        </p:nvSpPr>
        <p:spPr>
          <a:xfrm>
            <a:off x="981075" y="34385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81827"/>
                </a:solidFill>
              </a:defRPr>
            </a:pPr>
            <a:r>
              <a:rPr sz="975" b="1">
                <a:solidFill>
                  <a:srgbClr val="081827"/>
                </a:solidFill>
              </a:rPr>
              <a:t>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7959850-7C3B-482F-89B5-7893140C5C04}"/>
              </a:ext>
            </a:extLst>
          </p:cNvPr>
          <p:cNvSpPr>
            <a:spLocks noGrp="1"/>
          </p:cNvSpPr>
          <p:nvPr/>
        </p:nvSpPr>
        <p:spPr>
          <a:xfrm>
            <a:off x="1371600" y="3371850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3D8FF"/>
                </a:solidFill>
              </a:defRPr>
            </a:pPr>
            <a:r>
              <a:rPr sz="1125" b="1">
                <a:solidFill>
                  <a:srgbClr val="73D8FF"/>
                </a:solidFill>
              </a:rPr>
              <a:t>If You Want</a:t>
            </a:r>
          </a:p>
          <a:p>
            <a:pPr algn="l">
              <a:defRPr sz="1125" b="1">
                <a:solidFill>
                  <a:srgbClr val="73D8FF"/>
                </a:solidFill>
              </a:defRPr>
            </a:pPr>
            <a:r>
              <a:rPr sz="1125" b="1">
                <a:solidFill>
                  <a:srgbClr val="73D8FF"/>
                </a:solidFill>
              </a:rPr>
              <a:t>Classes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C52542E-879F-426C-B6D7-2A9A4B7D7669}"/>
              </a:ext>
            </a:extLst>
          </p:cNvPr>
          <p:cNvSpPr>
            <a:spLocks noGrp="1"/>
          </p:cNvSpPr>
          <p:nvPr/>
        </p:nvSpPr>
        <p:spPr>
          <a:xfrm>
            <a:off x="857250" y="3943350"/>
            <a:ext cx="22479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Open Find Teachers,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Courses, or Explore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Batches to discover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guided learning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options.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5F1E63A-6D24-4B41-A030-534FF8EFC50D}"/>
              </a:ext>
            </a:extLst>
          </p:cNvPr>
          <p:cNvSpPr>
            <a:spLocks noGrp="1"/>
          </p:cNvSpPr>
          <p:nvPr/>
        </p:nvSpPr>
        <p:spPr>
          <a:xfrm>
            <a:off x="3429000" y="3162300"/>
            <a:ext cx="2590800" cy="2019300"/>
          </a:xfrm>
          <a:prstGeom prst="roundRect">
            <a:avLst>
              <a:gd name="adj" fmla="val 3774"/>
            </a:avLst>
          </a:prstGeom>
          <a:solidFill>
            <a:srgbClr val="11263B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4960995-42FC-4308-A7F1-76FC9ABBA816}"/>
              </a:ext>
            </a:extLst>
          </p:cNvPr>
          <p:cNvSpPr>
            <a:spLocks noGrp="1"/>
          </p:cNvSpPr>
          <p:nvPr/>
        </p:nvSpPr>
        <p:spPr>
          <a:xfrm>
            <a:off x="3600450" y="3333750"/>
            <a:ext cx="400050" cy="400050"/>
          </a:xfrm>
          <a:prstGeom prst="ellipse">
            <a:avLst/>
          </a:prstGeom>
          <a:solidFill>
            <a:srgbClr val="4CB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AB22FF2-5958-4E65-890F-DDA6D7D12D2D}"/>
              </a:ext>
            </a:extLst>
          </p:cNvPr>
          <p:cNvSpPr>
            <a:spLocks noGrp="1"/>
          </p:cNvSpPr>
          <p:nvPr/>
        </p:nvSpPr>
        <p:spPr>
          <a:xfrm>
            <a:off x="3724275" y="34385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81827"/>
                </a:solidFill>
              </a:defRPr>
            </a:pPr>
            <a:r>
              <a:rPr sz="975" b="1">
                <a:solidFill>
                  <a:srgbClr val="081827"/>
                </a:solidFill>
              </a:rPr>
              <a:t>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BF3F9F6-80B0-4A6B-8E97-F533DBD6B592}"/>
              </a:ext>
            </a:extLst>
          </p:cNvPr>
          <p:cNvSpPr>
            <a:spLocks noGrp="1"/>
          </p:cNvSpPr>
          <p:nvPr/>
        </p:nvSpPr>
        <p:spPr>
          <a:xfrm>
            <a:off x="4114800" y="3371850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3D8FF"/>
                </a:solidFill>
              </a:defRPr>
            </a:pPr>
            <a:r>
              <a:rPr sz="1125" b="1">
                <a:solidFill>
                  <a:srgbClr val="73D8FF"/>
                </a:solidFill>
              </a:rPr>
              <a:t>If You Want</a:t>
            </a:r>
          </a:p>
          <a:p>
            <a:pPr algn="l">
              <a:defRPr sz="1125" b="1">
                <a:solidFill>
                  <a:srgbClr val="73D8FF"/>
                </a:solidFill>
              </a:defRPr>
            </a:pPr>
            <a:r>
              <a:rPr sz="1125" b="1">
                <a:solidFill>
                  <a:srgbClr val="73D8FF"/>
                </a:solidFill>
              </a:rPr>
              <a:t>Self-Study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70E4D78-2EE8-45B6-9842-2885E7D59AD2}"/>
              </a:ext>
            </a:extLst>
          </p:cNvPr>
          <p:cNvSpPr>
            <a:spLocks noGrp="1"/>
          </p:cNvSpPr>
          <p:nvPr/>
        </p:nvSpPr>
        <p:spPr>
          <a:xfrm>
            <a:off x="3600450" y="3943350"/>
            <a:ext cx="22479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Use My Learning or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Crash Courses to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continue content at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your own pace.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18464C3-2304-4A8B-AF5C-513DB8307A36}"/>
              </a:ext>
            </a:extLst>
          </p:cNvPr>
          <p:cNvSpPr>
            <a:spLocks noGrp="1"/>
          </p:cNvSpPr>
          <p:nvPr/>
        </p:nvSpPr>
        <p:spPr>
          <a:xfrm>
            <a:off x="6172200" y="3162300"/>
            <a:ext cx="2590800" cy="2019300"/>
          </a:xfrm>
          <a:prstGeom prst="roundRect">
            <a:avLst>
              <a:gd name="adj" fmla="val 3774"/>
            </a:avLst>
          </a:prstGeom>
          <a:solidFill>
            <a:srgbClr val="11263B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99C53A6-9DD7-4C97-8C41-5A605A488867}"/>
              </a:ext>
            </a:extLst>
          </p:cNvPr>
          <p:cNvSpPr>
            <a:spLocks noGrp="1"/>
          </p:cNvSpPr>
          <p:nvPr/>
        </p:nvSpPr>
        <p:spPr>
          <a:xfrm>
            <a:off x="6343650" y="3333750"/>
            <a:ext cx="400050" cy="400050"/>
          </a:xfrm>
          <a:prstGeom prst="ellipse">
            <a:avLst/>
          </a:prstGeom>
          <a:solidFill>
            <a:srgbClr val="2F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9755A22-2819-4FEC-AA30-71E80AD75999}"/>
              </a:ext>
            </a:extLst>
          </p:cNvPr>
          <p:cNvSpPr>
            <a:spLocks noGrp="1"/>
          </p:cNvSpPr>
          <p:nvPr/>
        </p:nvSpPr>
        <p:spPr>
          <a:xfrm>
            <a:off x="6467475" y="34385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81827"/>
                </a:solidFill>
              </a:defRPr>
            </a:pPr>
            <a:r>
              <a:rPr sz="975" b="1">
                <a:solidFill>
                  <a:srgbClr val="081827"/>
                </a:solidFill>
              </a:rPr>
              <a:t>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FB7C9C4-7D8D-4CE9-BEFB-7FED6EC2B347}"/>
              </a:ext>
            </a:extLst>
          </p:cNvPr>
          <p:cNvSpPr>
            <a:spLocks noGrp="1"/>
          </p:cNvSpPr>
          <p:nvPr/>
        </p:nvSpPr>
        <p:spPr>
          <a:xfrm>
            <a:off x="6858000" y="3371850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3D8FF"/>
                </a:solidFill>
              </a:defRPr>
            </a:pPr>
            <a:r>
              <a:rPr sz="1125" b="1">
                <a:solidFill>
                  <a:srgbClr val="73D8FF"/>
                </a:solidFill>
              </a:rPr>
              <a:t>If You Want</a:t>
            </a:r>
          </a:p>
          <a:p>
            <a:pPr algn="l">
              <a:defRPr sz="1125" b="1">
                <a:solidFill>
                  <a:srgbClr val="73D8FF"/>
                </a:solidFill>
              </a:defRPr>
            </a:pPr>
            <a:r>
              <a:rPr sz="1125" b="1">
                <a:solidFill>
                  <a:srgbClr val="73D8FF"/>
                </a:solidFill>
              </a:rPr>
              <a:t>Practice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725EC7F-6B97-4004-AE6A-043FF0F93FC3}"/>
              </a:ext>
            </a:extLst>
          </p:cNvPr>
          <p:cNvSpPr>
            <a:spLocks noGrp="1"/>
          </p:cNvSpPr>
          <p:nvPr/>
        </p:nvSpPr>
        <p:spPr>
          <a:xfrm>
            <a:off x="6343650" y="3943350"/>
            <a:ext cx="22479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Open Practice Session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or Mock Tests to start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solving questions and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testing yourself.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1F6A78C-9DBA-4400-8748-433449881904}"/>
              </a:ext>
            </a:extLst>
          </p:cNvPr>
          <p:cNvSpPr>
            <a:spLocks noGrp="1"/>
          </p:cNvSpPr>
          <p:nvPr/>
        </p:nvSpPr>
        <p:spPr>
          <a:xfrm>
            <a:off x="8915400" y="3162300"/>
            <a:ext cx="2590800" cy="2019300"/>
          </a:xfrm>
          <a:prstGeom prst="roundRect">
            <a:avLst>
              <a:gd name="adj" fmla="val 3774"/>
            </a:avLst>
          </a:prstGeom>
          <a:solidFill>
            <a:srgbClr val="11263B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C33C88F-837F-457C-8DE7-BE9D750C5DB6}"/>
              </a:ext>
            </a:extLst>
          </p:cNvPr>
          <p:cNvSpPr>
            <a:spLocks noGrp="1"/>
          </p:cNvSpPr>
          <p:nvPr/>
        </p:nvSpPr>
        <p:spPr>
          <a:xfrm>
            <a:off x="9086850" y="3333750"/>
            <a:ext cx="400050" cy="400050"/>
          </a:xfrm>
          <a:prstGeom prst="ellipse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FFB3859-39F0-449C-852E-D92A0E366493}"/>
              </a:ext>
            </a:extLst>
          </p:cNvPr>
          <p:cNvSpPr>
            <a:spLocks noGrp="1"/>
          </p:cNvSpPr>
          <p:nvPr/>
        </p:nvSpPr>
        <p:spPr>
          <a:xfrm>
            <a:off x="9210675" y="34385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81827"/>
                </a:solidFill>
              </a:defRPr>
            </a:pPr>
            <a:r>
              <a:rPr sz="975" b="1">
                <a:solidFill>
                  <a:srgbClr val="081827"/>
                </a:solidFill>
              </a:rPr>
              <a:t>4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385A418-F507-4FEA-AA6B-25A2F960C6D2}"/>
              </a:ext>
            </a:extLst>
          </p:cNvPr>
          <p:cNvSpPr>
            <a:spLocks noGrp="1"/>
          </p:cNvSpPr>
          <p:nvPr/>
        </p:nvSpPr>
        <p:spPr>
          <a:xfrm>
            <a:off x="9601200" y="3371850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3D8FF"/>
                </a:solidFill>
              </a:defRPr>
            </a:pPr>
            <a:r>
              <a:rPr sz="1125" b="1">
                <a:solidFill>
                  <a:srgbClr val="73D8FF"/>
                </a:solidFill>
              </a:rPr>
              <a:t>Use Exam And</a:t>
            </a:r>
          </a:p>
          <a:p>
            <a:pPr algn="l">
              <a:defRPr sz="1125" b="1">
                <a:solidFill>
                  <a:srgbClr val="73D8FF"/>
                </a:solidFill>
              </a:defRPr>
            </a:pPr>
            <a:r>
              <a:rPr sz="1125" b="1">
                <a:solidFill>
                  <a:srgbClr val="73D8FF"/>
                </a:solidFill>
              </a:rPr>
              <a:t>Subject Fit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CB5B955-3A1E-4955-B173-78C97ED78F11}"/>
              </a:ext>
            </a:extLst>
          </p:cNvPr>
          <p:cNvSpPr>
            <a:spLocks noGrp="1"/>
          </p:cNvSpPr>
          <p:nvPr/>
        </p:nvSpPr>
        <p:spPr>
          <a:xfrm>
            <a:off x="9086850" y="3943350"/>
            <a:ext cx="22479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Choose your exam,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class, curriculum, and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subject so the content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matches your level.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0BEF7BD-46E0-47AA-909E-471CB0D4F4B8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820400" cy="381000"/>
          </a:xfrm>
          <a:prstGeom prst="roundRect">
            <a:avLst>
              <a:gd name="adj" fmla="val 20000"/>
            </a:avLst>
          </a:prstGeom>
          <a:solidFill>
            <a:srgbClr val="0A1824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5350CF2-9B95-4540-BFA8-FA0107D06C7F}"/>
              </a:ext>
            </a:extLst>
          </p:cNvPr>
          <p:cNvSpPr>
            <a:spLocks noGrp="1"/>
          </p:cNvSpPr>
          <p:nvPr/>
        </p:nvSpPr>
        <p:spPr>
          <a:xfrm>
            <a:off x="857250" y="5734050"/>
            <a:ext cx="10477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C7D8E8"/>
                </a:solidFill>
              </a:defRPr>
            </a:pPr>
            <a:r>
              <a:rPr sz="825" b="0">
                <a:solidFill>
                  <a:srgbClr val="C7D8E8"/>
                </a:solidFill>
              </a:rPr>
              <a:t>Start with one clear purpose, then use more features later.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4515B9B-877D-402E-8020-DB34542C43DC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905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dcamclasses.in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17D2516-3DB6-4B36-A90C-6755FFE9B393}"/>
              </a:ext>
            </a:extLst>
          </p:cNvPr>
          <p:cNvSpPr>
            <a:spLocks noGrp="1"/>
          </p:cNvSpPr>
          <p:nvPr/>
        </p:nvSpPr>
        <p:spPr>
          <a:xfrm>
            <a:off x="9525000" y="6286500"/>
            <a:ext cx="1981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Student Seminar Guide</a:t>
            </a:r>
          </a:p>
        </p:txBody>
      </p:sp>
    </p:spTree>
    <p:extLst>
      <p:ext uri="{BB962C8B-B14F-4D97-AF65-F5344CB8AC3E}">
        <p14:creationId xmlns:p14="http://schemas.microsoft.com/office/powerpoint/2010/main" val="632886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0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 Placeholder 5">
            <a:extLst>
              <a:ext uri="{FF2B5EF4-FFF2-40B4-BE49-F238E27FC236}">
                <a16:creationId xmlns:a16="http://schemas.microsoft.com/office/drawing/2014/main" id="{0701CD60-24C2-4FCA-9ECA-67F66B848ED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0A1DC5-7F6C-493D-9CC6-7788B2E759F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10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1DABF8C-06E4-4492-A4EB-CD6747EBA252}"/>
              </a:ext>
            </a:extLst>
          </p:cNvPr>
          <p:cNvSpPr>
            <a:spLocks noGrp="1"/>
          </p:cNvSpPr>
          <p:nvPr/>
        </p:nvSpPr>
        <p:spPr>
          <a:xfrm>
            <a:off x="-1333500" y="-1143000"/>
            <a:ext cx="4000500" cy="4000500"/>
          </a:xfrm>
          <a:prstGeom prst="ellipse">
            <a:avLst/>
          </a:prstGeom>
          <a:solidFill>
            <a:srgbClr val="0C2C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1E62956-75EF-419F-98EE-E81F3FE5EB4A}"/>
              </a:ext>
            </a:extLst>
          </p:cNvPr>
          <p:cNvSpPr>
            <a:spLocks noGrp="1"/>
          </p:cNvSpPr>
          <p:nvPr/>
        </p:nvSpPr>
        <p:spPr>
          <a:xfrm>
            <a:off x="8572500" y="-1143000"/>
            <a:ext cx="3429000" cy="3429000"/>
          </a:xfrm>
          <a:prstGeom prst="ellipse">
            <a:avLst/>
          </a:prstGeom>
          <a:solidFill>
            <a:srgbClr val="0E2C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332EF05-636E-4269-9438-C677454A68C5}"/>
              </a:ext>
            </a:extLst>
          </p:cNvPr>
          <p:cNvSpPr>
            <a:spLocks noGrp="1"/>
          </p:cNvSpPr>
          <p:nvPr/>
        </p:nvSpPr>
        <p:spPr>
          <a:xfrm>
            <a:off x="8382000" y="4095750"/>
            <a:ext cx="4762500" cy="4762500"/>
          </a:xfrm>
          <a:prstGeom prst="ellipse">
            <a:avLst/>
          </a:prstGeom>
          <a:solidFill>
            <a:srgbClr val="0A2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5CE86C-3317-4F84-8864-3922277D919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111B">
              <a:alpha val="8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FC306E-46D5-4C77-B109-973CCBAD6354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809750" cy="47625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588ECB-82B9-4877-B733-7EEFD31C8C62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10820400" cy="9525"/>
          </a:xfrm>
          <a:prstGeom prst="rect">
            <a:avLst/>
          </a:prstGeom>
          <a:solidFill>
            <a:srgbClr val="1A36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88CCD4-918C-4D3B-A67B-A3DC6CCF81E5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73D8FF"/>
                </a:solidFill>
              </a:defRPr>
            </a:pPr>
            <a:r>
              <a:rPr sz="825" b="1">
                <a:solidFill>
                  <a:srgbClr val="73D8FF"/>
                </a:solidFill>
              </a:rPr>
              <a:t>STEP 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8D56EB-1E6E-41BB-A8DD-65AB7F72E326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19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C7D8E8"/>
                </a:solidFill>
              </a:defRPr>
            </a:pPr>
            <a:r>
              <a:rPr sz="825" b="1">
                <a:solidFill>
                  <a:srgbClr val="C7D8E8"/>
                </a:solidFill>
              </a:rPr>
              <a:t>08 / 12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8BD46E5-5FA3-42E7-B487-13C93923E4FD}"/>
              </a:ext>
            </a:extLst>
          </p:cNvPr>
          <p:cNvSpPr>
            <a:spLocks noGrp="1"/>
          </p:cNvSpPr>
          <p:nvPr/>
        </p:nvSpPr>
        <p:spPr>
          <a:xfrm>
            <a:off x="10267950" y="571500"/>
            <a:ext cx="1066800" cy="1066800"/>
          </a:xfrm>
          <a:prstGeom prst="roundRect">
            <a:avLst>
              <a:gd name="adj" fmla="val 7143"/>
            </a:avLst>
          </a:prstGeom>
          <a:solidFill>
            <a:srgbClr val="0D2032"/>
          </a:solidFill>
          <a:ln w="9525">
            <a:solidFill>
              <a:srgbClr val="1A3650"/>
            </a:solidFill>
            <a:prstDash val="solid"/>
          </a:ln>
        </p:spPr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63200" y="702264"/>
            <a:ext cx="876300" cy="80527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43F8A93-7D0E-492E-BF86-FB05E457EAB9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8096250" cy="1181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Learn Daily On DCAM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434A0C-4BC3-4E58-8FB5-C3CA9BBE988E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7429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7D8E8"/>
                </a:solidFill>
              </a:defRPr>
            </a:pPr>
            <a:r>
              <a:rPr sz="1350" b="0">
                <a:solidFill>
                  <a:srgbClr val="C7D8E8"/>
                </a:solidFill>
              </a:rPr>
              <a:t>Use learning tools to build a simple and regular study routine.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33B0177-26B9-412E-82CA-C11731C19A01}"/>
              </a:ext>
            </a:extLst>
          </p:cNvPr>
          <p:cNvSpPr>
            <a:spLocks noGrp="1"/>
          </p:cNvSpPr>
          <p:nvPr/>
        </p:nvSpPr>
        <p:spPr>
          <a:xfrm>
            <a:off x="685800" y="3067050"/>
            <a:ext cx="3479800" cy="2266950"/>
          </a:xfrm>
          <a:prstGeom prst="roundRect">
            <a:avLst>
              <a:gd name="adj" fmla="val 3361"/>
            </a:avLst>
          </a:prstGeom>
          <a:solidFill>
            <a:srgbClr val="0C1D2E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2DB6E54-DA74-405D-8217-4650174FA4E4}"/>
              </a:ext>
            </a:extLst>
          </p:cNvPr>
          <p:cNvSpPr>
            <a:spLocks noGrp="1"/>
          </p:cNvSpPr>
          <p:nvPr/>
        </p:nvSpPr>
        <p:spPr>
          <a:xfrm>
            <a:off x="685800" y="3067050"/>
            <a:ext cx="3479800" cy="47625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085C405-78A6-40E1-B441-D870196C9A9C}"/>
              </a:ext>
            </a:extLst>
          </p:cNvPr>
          <p:cNvSpPr>
            <a:spLocks noGrp="1"/>
          </p:cNvSpPr>
          <p:nvPr/>
        </p:nvSpPr>
        <p:spPr>
          <a:xfrm>
            <a:off x="876300" y="3257550"/>
            <a:ext cx="361950" cy="361950"/>
          </a:xfrm>
          <a:prstGeom prst="ellipse">
            <a:avLst/>
          </a:prstGeom>
          <a:solidFill>
            <a:srgbClr val="1231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A0A0D72-7ADA-4851-95C3-CB587AF5CE7C}"/>
              </a:ext>
            </a:extLst>
          </p:cNvPr>
          <p:cNvSpPr>
            <a:spLocks noGrp="1"/>
          </p:cNvSpPr>
          <p:nvPr/>
        </p:nvSpPr>
        <p:spPr>
          <a:xfrm>
            <a:off x="981075" y="33242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73D8FF"/>
                </a:solidFill>
              </a:defRPr>
            </a:pPr>
            <a:r>
              <a:rPr sz="975" b="1">
                <a:solidFill>
                  <a:srgbClr val="73D8FF"/>
                </a:solidFill>
              </a:rPr>
              <a:t>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E5677A5-B26E-4EB6-AD41-938937E491AC}"/>
              </a:ext>
            </a:extLst>
          </p:cNvPr>
          <p:cNvSpPr>
            <a:spLocks noGrp="1"/>
          </p:cNvSpPr>
          <p:nvPr/>
        </p:nvSpPr>
        <p:spPr>
          <a:xfrm>
            <a:off x="1390650" y="3276600"/>
            <a:ext cx="2565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3D8FF"/>
                </a:solidFill>
              </a:defRPr>
            </a:pPr>
            <a:r>
              <a:rPr sz="1200" b="1">
                <a:solidFill>
                  <a:srgbClr val="73D8FF"/>
                </a:solidFill>
              </a:rPr>
              <a:t>My Learning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E084D90-5F20-4B2A-B690-3BD6949A6BA9}"/>
              </a:ext>
            </a:extLst>
          </p:cNvPr>
          <p:cNvSpPr>
            <a:spLocks noGrp="1"/>
          </p:cNvSpPr>
          <p:nvPr/>
        </p:nvSpPr>
        <p:spPr>
          <a:xfrm>
            <a:off x="876300" y="3867150"/>
            <a:ext cx="30988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Continue enrolled courses,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resume modules, and keep your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course study in one place.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76572FC-98AF-4F1B-9332-ACAEACCBCE85}"/>
              </a:ext>
            </a:extLst>
          </p:cNvPr>
          <p:cNvSpPr>
            <a:spLocks noGrp="1"/>
          </p:cNvSpPr>
          <p:nvPr/>
        </p:nvSpPr>
        <p:spPr>
          <a:xfrm>
            <a:off x="4356100" y="3067050"/>
            <a:ext cx="3479800" cy="2266950"/>
          </a:xfrm>
          <a:prstGeom prst="roundRect">
            <a:avLst>
              <a:gd name="adj" fmla="val 3361"/>
            </a:avLst>
          </a:prstGeom>
          <a:solidFill>
            <a:srgbClr val="0C1D2E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B968647-15B5-4506-973D-F3378B7077F1}"/>
              </a:ext>
            </a:extLst>
          </p:cNvPr>
          <p:cNvSpPr>
            <a:spLocks noGrp="1"/>
          </p:cNvSpPr>
          <p:nvPr/>
        </p:nvSpPr>
        <p:spPr>
          <a:xfrm>
            <a:off x="4356100" y="3067050"/>
            <a:ext cx="3479800" cy="47625"/>
          </a:xfrm>
          <a:prstGeom prst="rect">
            <a:avLst/>
          </a:prstGeom>
          <a:solidFill>
            <a:srgbClr val="4CB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E164B46-4DE3-45D6-A835-24F0DBBF418A}"/>
              </a:ext>
            </a:extLst>
          </p:cNvPr>
          <p:cNvSpPr>
            <a:spLocks noGrp="1"/>
          </p:cNvSpPr>
          <p:nvPr/>
        </p:nvSpPr>
        <p:spPr>
          <a:xfrm>
            <a:off x="4546600" y="3257550"/>
            <a:ext cx="361950" cy="361950"/>
          </a:xfrm>
          <a:prstGeom prst="ellipse">
            <a:avLst/>
          </a:prstGeom>
          <a:solidFill>
            <a:srgbClr val="1231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1E6BF99-BD81-4281-942B-EA300EDCDACB}"/>
              </a:ext>
            </a:extLst>
          </p:cNvPr>
          <p:cNvSpPr>
            <a:spLocks noGrp="1"/>
          </p:cNvSpPr>
          <p:nvPr/>
        </p:nvSpPr>
        <p:spPr>
          <a:xfrm>
            <a:off x="4651375" y="33242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4CB6FF"/>
                </a:solidFill>
              </a:defRPr>
            </a:pPr>
            <a:r>
              <a:rPr sz="975" b="1">
                <a:solidFill>
                  <a:srgbClr val="4CB6FF"/>
                </a:solidFill>
              </a:rPr>
              <a:t>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898CBD6-A3F6-48B1-8068-94A8AA2362BC}"/>
              </a:ext>
            </a:extLst>
          </p:cNvPr>
          <p:cNvSpPr>
            <a:spLocks noGrp="1"/>
          </p:cNvSpPr>
          <p:nvPr/>
        </p:nvSpPr>
        <p:spPr>
          <a:xfrm>
            <a:off x="5060950" y="3276600"/>
            <a:ext cx="2565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3D8FF"/>
                </a:solidFill>
              </a:defRPr>
            </a:pPr>
            <a:r>
              <a:rPr sz="1200" b="1">
                <a:solidFill>
                  <a:srgbClr val="73D8FF"/>
                </a:solidFill>
              </a:rPr>
              <a:t>Live Batches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E3C8C96-7130-4B0B-87FC-2E56CE8EE8FF}"/>
              </a:ext>
            </a:extLst>
          </p:cNvPr>
          <p:cNvSpPr>
            <a:spLocks noGrp="1"/>
          </p:cNvSpPr>
          <p:nvPr/>
        </p:nvSpPr>
        <p:spPr>
          <a:xfrm>
            <a:off x="4546600" y="3867150"/>
            <a:ext cx="30988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Join scheduled classes and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stay disciplined with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teacher-led learning.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F34DFA2-F895-4A7B-A1E7-A7702AE5FAA4}"/>
              </a:ext>
            </a:extLst>
          </p:cNvPr>
          <p:cNvSpPr>
            <a:spLocks noGrp="1"/>
          </p:cNvSpPr>
          <p:nvPr/>
        </p:nvSpPr>
        <p:spPr>
          <a:xfrm>
            <a:off x="8026400" y="3067050"/>
            <a:ext cx="3479800" cy="2266950"/>
          </a:xfrm>
          <a:prstGeom prst="roundRect">
            <a:avLst>
              <a:gd name="adj" fmla="val 3361"/>
            </a:avLst>
          </a:prstGeom>
          <a:solidFill>
            <a:srgbClr val="0C1D2E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22BB534-350A-4F03-A6D2-D24D8F6F402C}"/>
              </a:ext>
            </a:extLst>
          </p:cNvPr>
          <p:cNvSpPr>
            <a:spLocks noGrp="1"/>
          </p:cNvSpPr>
          <p:nvPr/>
        </p:nvSpPr>
        <p:spPr>
          <a:xfrm>
            <a:off x="8026400" y="3067050"/>
            <a:ext cx="3479800" cy="47625"/>
          </a:xfrm>
          <a:prstGeom prst="rect">
            <a:avLst/>
          </a:prstGeom>
          <a:solidFill>
            <a:srgbClr val="2F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3447F80-95C1-43EC-B859-857E3ED649B5}"/>
              </a:ext>
            </a:extLst>
          </p:cNvPr>
          <p:cNvSpPr>
            <a:spLocks noGrp="1"/>
          </p:cNvSpPr>
          <p:nvPr/>
        </p:nvSpPr>
        <p:spPr>
          <a:xfrm>
            <a:off x="8216900" y="3257550"/>
            <a:ext cx="361950" cy="361950"/>
          </a:xfrm>
          <a:prstGeom prst="ellipse">
            <a:avLst/>
          </a:prstGeom>
          <a:solidFill>
            <a:srgbClr val="1231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D5B82BE-4924-4807-9231-75F92E3B69EE}"/>
              </a:ext>
            </a:extLst>
          </p:cNvPr>
          <p:cNvSpPr>
            <a:spLocks noGrp="1"/>
          </p:cNvSpPr>
          <p:nvPr/>
        </p:nvSpPr>
        <p:spPr>
          <a:xfrm>
            <a:off x="8321675" y="33242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2F6CFF"/>
                </a:solidFill>
              </a:defRPr>
            </a:pPr>
            <a:r>
              <a:rPr sz="975" b="1">
                <a:solidFill>
                  <a:srgbClr val="2F6CFF"/>
                </a:solidFill>
              </a:rPr>
              <a:t>C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9226C87-2829-4D70-95BA-45F1C9BF1268}"/>
              </a:ext>
            </a:extLst>
          </p:cNvPr>
          <p:cNvSpPr>
            <a:spLocks noGrp="1"/>
          </p:cNvSpPr>
          <p:nvPr/>
        </p:nvSpPr>
        <p:spPr>
          <a:xfrm>
            <a:off x="8731250" y="3276600"/>
            <a:ext cx="2565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3D8FF"/>
                </a:solidFill>
              </a:defRPr>
            </a:pPr>
            <a:r>
              <a:rPr sz="1200" b="1">
                <a:solidFill>
                  <a:srgbClr val="73D8FF"/>
                </a:solidFill>
              </a:rPr>
              <a:t>Crash Courses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5DE5640-FD83-44BF-9C4D-9D0A5025A53E}"/>
              </a:ext>
            </a:extLst>
          </p:cNvPr>
          <p:cNvSpPr>
            <a:spLocks noGrp="1"/>
          </p:cNvSpPr>
          <p:nvPr/>
        </p:nvSpPr>
        <p:spPr>
          <a:xfrm>
            <a:off x="8216900" y="3867150"/>
            <a:ext cx="30988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Use short revision-focused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courses when you need faster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exam preparation.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D684CB49-AA3C-4E42-844F-465C7762942E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820400" cy="381000"/>
          </a:xfrm>
          <a:prstGeom prst="roundRect">
            <a:avLst>
              <a:gd name="adj" fmla="val 20000"/>
            </a:avLst>
          </a:prstGeom>
          <a:solidFill>
            <a:srgbClr val="0A1824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76702F8-67CF-4356-8FE1-65199156B849}"/>
              </a:ext>
            </a:extLst>
          </p:cNvPr>
          <p:cNvSpPr>
            <a:spLocks noGrp="1"/>
          </p:cNvSpPr>
          <p:nvPr/>
        </p:nvSpPr>
        <p:spPr>
          <a:xfrm>
            <a:off x="857250" y="5734050"/>
            <a:ext cx="10477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C7D8E8"/>
                </a:solidFill>
              </a:defRPr>
            </a:pPr>
            <a:r>
              <a:rPr sz="825" b="0">
                <a:solidFill>
                  <a:srgbClr val="C7D8E8"/>
                </a:solidFill>
              </a:rPr>
              <a:t>Learning works best when you return every day, even for a short time.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270A0E0-DF04-4EE1-AC54-78BB3296894E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905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dcamclasses.in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C82026F-78CD-436E-9BB4-CE36C38F759E}"/>
              </a:ext>
            </a:extLst>
          </p:cNvPr>
          <p:cNvSpPr>
            <a:spLocks noGrp="1"/>
          </p:cNvSpPr>
          <p:nvPr/>
        </p:nvSpPr>
        <p:spPr>
          <a:xfrm>
            <a:off x="9525000" y="6286500"/>
            <a:ext cx="1981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Student Seminar Guide</a:t>
            </a:r>
          </a:p>
        </p:txBody>
      </p:sp>
    </p:spTree>
    <p:extLst>
      <p:ext uri="{BB962C8B-B14F-4D97-AF65-F5344CB8AC3E}">
        <p14:creationId xmlns:p14="http://schemas.microsoft.com/office/powerpoint/2010/main" val="747975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0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5">
            <a:extLst>
              <a:ext uri="{FF2B5EF4-FFF2-40B4-BE49-F238E27FC236}">
                <a16:creationId xmlns:a16="http://schemas.microsoft.com/office/drawing/2014/main" id="{0701CD60-24C2-4FCA-9ECA-67F66B848ED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162FAD-44AB-428E-9863-81FC1F3E52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10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1206624-52D2-4FD4-836F-00F87B738043}"/>
              </a:ext>
            </a:extLst>
          </p:cNvPr>
          <p:cNvSpPr>
            <a:spLocks noGrp="1"/>
          </p:cNvSpPr>
          <p:nvPr/>
        </p:nvSpPr>
        <p:spPr>
          <a:xfrm>
            <a:off x="-1333500" y="-1143000"/>
            <a:ext cx="4000500" cy="4000500"/>
          </a:xfrm>
          <a:prstGeom prst="ellipse">
            <a:avLst/>
          </a:prstGeom>
          <a:solidFill>
            <a:srgbClr val="0C2C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2B5E7A3-902D-4F3E-850C-785081626BAA}"/>
              </a:ext>
            </a:extLst>
          </p:cNvPr>
          <p:cNvSpPr>
            <a:spLocks noGrp="1"/>
          </p:cNvSpPr>
          <p:nvPr/>
        </p:nvSpPr>
        <p:spPr>
          <a:xfrm>
            <a:off x="8572500" y="-1143000"/>
            <a:ext cx="3429000" cy="3429000"/>
          </a:xfrm>
          <a:prstGeom prst="ellipse">
            <a:avLst/>
          </a:prstGeom>
          <a:solidFill>
            <a:srgbClr val="0E2C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FF421CC-C4F2-40B9-B60A-641F62E2A459}"/>
              </a:ext>
            </a:extLst>
          </p:cNvPr>
          <p:cNvSpPr>
            <a:spLocks noGrp="1"/>
          </p:cNvSpPr>
          <p:nvPr/>
        </p:nvSpPr>
        <p:spPr>
          <a:xfrm>
            <a:off x="8382000" y="4095750"/>
            <a:ext cx="4762500" cy="4762500"/>
          </a:xfrm>
          <a:prstGeom prst="ellipse">
            <a:avLst/>
          </a:prstGeom>
          <a:solidFill>
            <a:srgbClr val="0A2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6E03AB-CB67-49A4-87CE-E0A15995003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111B">
              <a:alpha val="8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D2C7CE-6E7C-441C-A99E-9C50BEAC9FE6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809750" cy="47625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2DF61A-019D-42D9-B812-904DF20E7006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10820400" cy="9525"/>
          </a:xfrm>
          <a:prstGeom prst="rect">
            <a:avLst/>
          </a:prstGeom>
          <a:solidFill>
            <a:srgbClr val="1A36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603163-10DF-4827-914E-86D91353C2D3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73D8FF"/>
                </a:solidFill>
              </a:defRPr>
            </a:pPr>
            <a:r>
              <a:rPr sz="825" b="1">
                <a:solidFill>
                  <a:srgbClr val="73D8FF"/>
                </a:solidFill>
              </a:rPr>
              <a:t>STEP 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C32BD1-4DAC-4B11-9973-2682335D0EA1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19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C7D8E8"/>
                </a:solidFill>
              </a:defRPr>
            </a:pPr>
            <a:r>
              <a:rPr sz="825" b="1">
                <a:solidFill>
                  <a:srgbClr val="C7D8E8"/>
                </a:solidFill>
              </a:rPr>
              <a:t>09 / 12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79276BD-8259-4BDD-92A0-064A0AE7ED4F}"/>
              </a:ext>
            </a:extLst>
          </p:cNvPr>
          <p:cNvSpPr>
            <a:spLocks noGrp="1"/>
          </p:cNvSpPr>
          <p:nvPr/>
        </p:nvSpPr>
        <p:spPr>
          <a:xfrm>
            <a:off x="10267950" y="571500"/>
            <a:ext cx="1066800" cy="1066800"/>
          </a:xfrm>
          <a:prstGeom prst="roundRect">
            <a:avLst>
              <a:gd name="adj" fmla="val 7143"/>
            </a:avLst>
          </a:prstGeom>
          <a:solidFill>
            <a:srgbClr val="0D2032"/>
          </a:solidFill>
          <a:ln w="9525">
            <a:solidFill>
              <a:srgbClr val="1A3650"/>
            </a:solidFill>
            <a:prstDash val="solid"/>
          </a:ln>
        </p:spPr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63200" y="702264"/>
            <a:ext cx="876300" cy="80527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5ADBA39-5164-4297-8FC8-A2FDCB96865F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8096250" cy="1181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Practice And Test Yourself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3ED659-480E-4047-89CC-7A24957D523B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7429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7D8E8"/>
                </a:solidFill>
              </a:defRPr>
            </a:pPr>
            <a:r>
              <a:rPr sz="1350" b="0">
                <a:solidFill>
                  <a:srgbClr val="C7D8E8"/>
                </a:solidFill>
              </a:rPr>
              <a:t>Real improvement happens when you practise and review, not only when you</a:t>
            </a:r>
          </a:p>
          <a:p>
            <a:pPr algn="l">
              <a:defRPr sz="1350" b="0">
                <a:solidFill>
                  <a:srgbClr val="C7D8E8"/>
                </a:solidFill>
              </a:defRPr>
            </a:pPr>
            <a:r>
              <a:rPr sz="1350" b="0">
                <a:solidFill>
                  <a:srgbClr val="C7D8E8"/>
                </a:solidFill>
              </a:rPr>
              <a:t>read.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E6C5FB8-718A-4B2C-9349-D3B63B92D8B9}"/>
              </a:ext>
            </a:extLst>
          </p:cNvPr>
          <p:cNvSpPr>
            <a:spLocks noGrp="1"/>
          </p:cNvSpPr>
          <p:nvPr/>
        </p:nvSpPr>
        <p:spPr>
          <a:xfrm>
            <a:off x="685800" y="3162300"/>
            <a:ext cx="2590800" cy="2019300"/>
          </a:xfrm>
          <a:prstGeom prst="roundRect">
            <a:avLst>
              <a:gd name="adj" fmla="val 3774"/>
            </a:avLst>
          </a:prstGeom>
          <a:solidFill>
            <a:srgbClr val="11263B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ED7B54E-22D8-474A-B4DD-3795AA5E0789}"/>
              </a:ext>
            </a:extLst>
          </p:cNvPr>
          <p:cNvSpPr>
            <a:spLocks noGrp="1"/>
          </p:cNvSpPr>
          <p:nvPr/>
        </p:nvSpPr>
        <p:spPr>
          <a:xfrm>
            <a:off x="857250" y="3333750"/>
            <a:ext cx="400050" cy="400050"/>
          </a:xfrm>
          <a:prstGeom prst="ellipse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DDCD24-1C50-433F-85AB-CAD9FA9E0BF8}"/>
              </a:ext>
            </a:extLst>
          </p:cNvPr>
          <p:cNvSpPr>
            <a:spLocks noGrp="1"/>
          </p:cNvSpPr>
          <p:nvPr/>
        </p:nvSpPr>
        <p:spPr>
          <a:xfrm>
            <a:off x="981075" y="34385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81827"/>
                </a:solidFill>
              </a:defRPr>
            </a:pPr>
            <a:r>
              <a:rPr sz="975" b="1">
                <a:solidFill>
                  <a:srgbClr val="081827"/>
                </a:solidFill>
              </a:rPr>
              <a:t>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0C31EEB-F9EF-4776-B831-ED1960C45A52}"/>
              </a:ext>
            </a:extLst>
          </p:cNvPr>
          <p:cNvSpPr>
            <a:spLocks noGrp="1"/>
          </p:cNvSpPr>
          <p:nvPr/>
        </p:nvSpPr>
        <p:spPr>
          <a:xfrm>
            <a:off x="1371600" y="3371850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3D8FF"/>
                </a:solidFill>
              </a:defRPr>
            </a:pPr>
            <a:r>
              <a:rPr sz="1125" b="1">
                <a:solidFill>
                  <a:srgbClr val="73D8FF"/>
                </a:solidFill>
              </a:rPr>
              <a:t>Use Practice</a:t>
            </a:r>
          </a:p>
          <a:p>
            <a:pPr algn="l">
              <a:defRPr sz="1125" b="1">
                <a:solidFill>
                  <a:srgbClr val="73D8FF"/>
                </a:solidFill>
              </a:defRPr>
            </a:pPr>
            <a:r>
              <a:rPr sz="1125" b="1">
                <a:solidFill>
                  <a:srgbClr val="73D8FF"/>
                </a:solidFill>
              </a:rPr>
              <a:t>Session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F93A92-A8CA-4EDA-A431-4620DB5EAF9B}"/>
              </a:ext>
            </a:extLst>
          </p:cNvPr>
          <p:cNvSpPr>
            <a:spLocks noGrp="1"/>
          </p:cNvSpPr>
          <p:nvPr/>
        </p:nvSpPr>
        <p:spPr>
          <a:xfrm>
            <a:off x="857250" y="3943350"/>
            <a:ext cx="22479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Open Practice Session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for topic-wise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question practice from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the question bank.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225FCCC-B00E-44E7-8A0B-26CB8F03687D}"/>
              </a:ext>
            </a:extLst>
          </p:cNvPr>
          <p:cNvSpPr>
            <a:spLocks noGrp="1"/>
          </p:cNvSpPr>
          <p:nvPr/>
        </p:nvSpPr>
        <p:spPr>
          <a:xfrm>
            <a:off x="3429000" y="3162300"/>
            <a:ext cx="2590800" cy="2019300"/>
          </a:xfrm>
          <a:prstGeom prst="roundRect">
            <a:avLst>
              <a:gd name="adj" fmla="val 3774"/>
            </a:avLst>
          </a:prstGeom>
          <a:solidFill>
            <a:srgbClr val="11263B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808C3CD-A120-4C49-8CD5-C42D282DFC07}"/>
              </a:ext>
            </a:extLst>
          </p:cNvPr>
          <p:cNvSpPr>
            <a:spLocks noGrp="1"/>
          </p:cNvSpPr>
          <p:nvPr/>
        </p:nvSpPr>
        <p:spPr>
          <a:xfrm>
            <a:off x="3600450" y="3333750"/>
            <a:ext cx="400050" cy="400050"/>
          </a:xfrm>
          <a:prstGeom prst="ellipse">
            <a:avLst/>
          </a:prstGeom>
          <a:solidFill>
            <a:srgbClr val="4CB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890EF08-3700-4DF9-B6E1-5D95BC8C4E75}"/>
              </a:ext>
            </a:extLst>
          </p:cNvPr>
          <p:cNvSpPr>
            <a:spLocks noGrp="1"/>
          </p:cNvSpPr>
          <p:nvPr/>
        </p:nvSpPr>
        <p:spPr>
          <a:xfrm>
            <a:off x="3724275" y="34385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81827"/>
                </a:solidFill>
              </a:defRPr>
            </a:pPr>
            <a:r>
              <a:rPr sz="975" b="1">
                <a:solidFill>
                  <a:srgbClr val="081827"/>
                </a:solidFill>
              </a:rPr>
              <a:t>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E20A77B-8042-4F0D-9533-853C71C2AABA}"/>
              </a:ext>
            </a:extLst>
          </p:cNvPr>
          <p:cNvSpPr>
            <a:spLocks noGrp="1"/>
          </p:cNvSpPr>
          <p:nvPr/>
        </p:nvSpPr>
        <p:spPr>
          <a:xfrm>
            <a:off x="4114800" y="3371850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3D8FF"/>
                </a:solidFill>
              </a:defRPr>
            </a:pPr>
            <a:r>
              <a:rPr sz="1125" b="1">
                <a:solidFill>
                  <a:srgbClr val="73D8FF"/>
                </a:solidFill>
              </a:rPr>
              <a:t>Use Mock Tests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223ADF8-6BAE-42BE-8610-AD166D935C8E}"/>
              </a:ext>
            </a:extLst>
          </p:cNvPr>
          <p:cNvSpPr>
            <a:spLocks noGrp="1"/>
          </p:cNvSpPr>
          <p:nvPr/>
        </p:nvSpPr>
        <p:spPr>
          <a:xfrm>
            <a:off x="3600450" y="3943350"/>
            <a:ext cx="22479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Open Mock Tests for a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fuller exam-style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experience with timed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attempts and analysis.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EA954BB-52B3-466F-B0FD-E76F90A55767}"/>
              </a:ext>
            </a:extLst>
          </p:cNvPr>
          <p:cNvSpPr>
            <a:spLocks noGrp="1"/>
          </p:cNvSpPr>
          <p:nvPr/>
        </p:nvSpPr>
        <p:spPr>
          <a:xfrm>
            <a:off x="6172200" y="3162300"/>
            <a:ext cx="2590800" cy="2019300"/>
          </a:xfrm>
          <a:prstGeom prst="roundRect">
            <a:avLst>
              <a:gd name="adj" fmla="val 3774"/>
            </a:avLst>
          </a:prstGeom>
          <a:solidFill>
            <a:srgbClr val="11263B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CB0EDDA-CA77-495C-88AA-2A9A8C287CD9}"/>
              </a:ext>
            </a:extLst>
          </p:cNvPr>
          <p:cNvSpPr>
            <a:spLocks noGrp="1"/>
          </p:cNvSpPr>
          <p:nvPr/>
        </p:nvSpPr>
        <p:spPr>
          <a:xfrm>
            <a:off x="6343650" y="3333750"/>
            <a:ext cx="400050" cy="400050"/>
          </a:xfrm>
          <a:prstGeom prst="ellipse">
            <a:avLst/>
          </a:prstGeom>
          <a:solidFill>
            <a:srgbClr val="2F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2C56D1-03CF-48F9-9726-5428AF0C71F0}"/>
              </a:ext>
            </a:extLst>
          </p:cNvPr>
          <p:cNvSpPr>
            <a:spLocks noGrp="1"/>
          </p:cNvSpPr>
          <p:nvPr/>
        </p:nvSpPr>
        <p:spPr>
          <a:xfrm>
            <a:off x="6467475" y="34385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81827"/>
                </a:solidFill>
              </a:defRPr>
            </a:pPr>
            <a:r>
              <a:rPr sz="975" b="1">
                <a:solidFill>
                  <a:srgbClr val="081827"/>
                </a:solidFill>
              </a:rPr>
              <a:t>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8FEAE9F-E92F-4C94-869A-275C36433F75}"/>
              </a:ext>
            </a:extLst>
          </p:cNvPr>
          <p:cNvSpPr>
            <a:spLocks noGrp="1"/>
          </p:cNvSpPr>
          <p:nvPr/>
        </p:nvSpPr>
        <p:spPr>
          <a:xfrm>
            <a:off x="6858000" y="3371850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3D8FF"/>
                </a:solidFill>
              </a:defRPr>
            </a:pPr>
            <a:r>
              <a:rPr sz="1125" b="1">
                <a:solidFill>
                  <a:srgbClr val="73D8FF"/>
                </a:solidFill>
              </a:rPr>
              <a:t>Use Custom Mock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1F78A5E-7A10-4D4E-BBE9-4EE39324E20E}"/>
              </a:ext>
            </a:extLst>
          </p:cNvPr>
          <p:cNvSpPr>
            <a:spLocks noGrp="1"/>
          </p:cNvSpPr>
          <p:nvPr/>
        </p:nvSpPr>
        <p:spPr>
          <a:xfrm>
            <a:off x="6343650" y="3943350"/>
            <a:ext cx="22479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Create your own custom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mock test when you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want practice for a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chosen exam or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subject.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B9878B6-8224-41F7-86FA-9BF6470DD8E7}"/>
              </a:ext>
            </a:extLst>
          </p:cNvPr>
          <p:cNvSpPr>
            <a:spLocks noGrp="1"/>
          </p:cNvSpPr>
          <p:nvPr/>
        </p:nvSpPr>
        <p:spPr>
          <a:xfrm>
            <a:off x="8915400" y="3162300"/>
            <a:ext cx="2590800" cy="2019300"/>
          </a:xfrm>
          <a:prstGeom prst="roundRect">
            <a:avLst>
              <a:gd name="adj" fmla="val 3774"/>
            </a:avLst>
          </a:prstGeom>
          <a:solidFill>
            <a:srgbClr val="11263B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3047DC2-4B75-4EC3-B58C-B74D10FE1750}"/>
              </a:ext>
            </a:extLst>
          </p:cNvPr>
          <p:cNvSpPr>
            <a:spLocks noGrp="1"/>
          </p:cNvSpPr>
          <p:nvPr/>
        </p:nvSpPr>
        <p:spPr>
          <a:xfrm>
            <a:off x="9086850" y="3333750"/>
            <a:ext cx="400050" cy="400050"/>
          </a:xfrm>
          <a:prstGeom prst="ellipse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CE8C05E-1CEE-4904-BD43-99A56D8ACD62}"/>
              </a:ext>
            </a:extLst>
          </p:cNvPr>
          <p:cNvSpPr>
            <a:spLocks noGrp="1"/>
          </p:cNvSpPr>
          <p:nvPr/>
        </p:nvSpPr>
        <p:spPr>
          <a:xfrm>
            <a:off x="9210675" y="34385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81827"/>
                </a:solidFill>
              </a:defRPr>
            </a:pPr>
            <a:r>
              <a:rPr sz="975" b="1">
                <a:solidFill>
                  <a:srgbClr val="081827"/>
                </a:solidFill>
              </a:rPr>
              <a:t>4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4561ACE-7959-4C8B-AE8B-D596917EC54A}"/>
              </a:ext>
            </a:extLst>
          </p:cNvPr>
          <p:cNvSpPr>
            <a:spLocks noGrp="1"/>
          </p:cNvSpPr>
          <p:nvPr/>
        </p:nvSpPr>
        <p:spPr>
          <a:xfrm>
            <a:off x="9601200" y="3371850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3D8FF"/>
                </a:solidFill>
              </a:defRPr>
            </a:pPr>
            <a:r>
              <a:rPr sz="1125" b="1">
                <a:solidFill>
                  <a:srgbClr val="73D8FF"/>
                </a:solidFill>
              </a:rPr>
              <a:t>Review Weak</a:t>
            </a:r>
          </a:p>
          <a:p>
            <a:pPr algn="l">
              <a:defRPr sz="1125" b="1">
                <a:solidFill>
                  <a:srgbClr val="73D8FF"/>
                </a:solidFill>
              </a:defRPr>
            </a:pPr>
            <a:r>
              <a:rPr sz="1125" b="1">
                <a:solidFill>
                  <a:srgbClr val="73D8FF"/>
                </a:solidFill>
              </a:rPr>
              <a:t>Areas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166E63C-8F45-4C7C-8470-D160C402936E}"/>
              </a:ext>
            </a:extLst>
          </p:cNvPr>
          <p:cNvSpPr>
            <a:spLocks noGrp="1"/>
          </p:cNvSpPr>
          <p:nvPr/>
        </p:nvSpPr>
        <p:spPr>
          <a:xfrm>
            <a:off x="9086850" y="3943350"/>
            <a:ext cx="22479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Check reports,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results, and your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practice history to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know what to improve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next.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B611550F-1DAF-4AF2-BD2E-89ACBC0FAD74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820400" cy="381000"/>
          </a:xfrm>
          <a:prstGeom prst="roundRect">
            <a:avLst>
              <a:gd name="adj" fmla="val 20000"/>
            </a:avLst>
          </a:prstGeom>
          <a:solidFill>
            <a:srgbClr val="0A1824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693BBAF-DCE9-4141-B3C2-5D0F3FD59439}"/>
              </a:ext>
            </a:extLst>
          </p:cNvPr>
          <p:cNvSpPr>
            <a:spLocks noGrp="1"/>
          </p:cNvSpPr>
          <p:nvPr/>
        </p:nvSpPr>
        <p:spPr>
          <a:xfrm>
            <a:off x="857250" y="5734050"/>
            <a:ext cx="10477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C7D8E8"/>
                </a:solidFill>
              </a:defRPr>
            </a:pPr>
            <a:r>
              <a:rPr sz="825" b="0">
                <a:solidFill>
                  <a:srgbClr val="C7D8E8"/>
                </a:solidFill>
              </a:rPr>
              <a:t>Study plus practice plus review is the best preparation combination.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32D6779-3DBB-4C1C-82D1-203A775CA421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905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dcamclasses.in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9FCD37F-3695-4FCA-B94C-1991091BB837}"/>
              </a:ext>
            </a:extLst>
          </p:cNvPr>
          <p:cNvSpPr>
            <a:spLocks noGrp="1"/>
          </p:cNvSpPr>
          <p:nvPr/>
        </p:nvSpPr>
        <p:spPr>
          <a:xfrm>
            <a:off x="9525000" y="6286500"/>
            <a:ext cx="1981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Student Seminar Guide</a:t>
            </a:r>
          </a:p>
        </p:txBody>
      </p:sp>
    </p:spTree>
    <p:extLst>
      <p:ext uri="{BB962C8B-B14F-4D97-AF65-F5344CB8AC3E}">
        <p14:creationId xmlns:p14="http://schemas.microsoft.com/office/powerpoint/2010/main" val="460837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0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5">
            <a:extLst>
              <a:ext uri="{FF2B5EF4-FFF2-40B4-BE49-F238E27FC236}">
                <a16:creationId xmlns:a16="http://schemas.microsoft.com/office/drawing/2014/main" id="{0701CD60-24C2-4FCA-9ECA-67F66B848ED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12E377-D011-4AC8-81AD-9CFEF9570FF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10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90A0966-C32C-471E-9348-1472909A8B4C}"/>
              </a:ext>
            </a:extLst>
          </p:cNvPr>
          <p:cNvSpPr>
            <a:spLocks noGrp="1"/>
          </p:cNvSpPr>
          <p:nvPr/>
        </p:nvSpPr>
        <p:spPr>
          <a:xfrm>
            <a:off x="-1333500" y="-1143000"/>
            <a:ext cx="4000500" cy="4000500"/>
          </a:xfrm>
          <a:prstGeom prst="ellipse">
            <a:avLst/>
          </a:prstGeom>
          <a:solidFill>
            <a:srgbClr val="0C2C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02FBB4B-1F77-4A2D-8D2F-AFCACFBD70E6}"/>
              </a:ext>
            </a:extLst>
          </p:cNvPr>
          <p:cNvSpPr>
            <a:spLocks noGrp="1"/>
          </p:cNvSpPr>
          <p:nvPr/>
        </p:nvSpPr>
        <p:spPr>
          <a:xfrm>
            <a:off x="8572500" y="-1143000"/>
            <a:ext cx="3429000" cy="3429000"/>
          </a:xfrm>
          <a:prstGeom prst="ellipse">
            <a:avLst/>
          </a:prstGeom>
          <a:solidFill>
            <a:srgbClr val="0E2C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0E5D58-B0BA-437A-A2C8-DD3DD3856BC0}"/>
              </a:ext>
            </a:extLst>
          </p:cNvPr>
          <p:cNvSpPr>
            <a:spLocks noGrp="1"/>
          </p:cNvSpPr>
          <p:nvPr/>
        </p:nvSpPr>
        <p:spPr>
          <a:xfrm>
            <a:off x="8382000" y="4095750"/>
            <a:ext cx="4762500" cy="4762500"/>
          </a:xfrm>
          <a:prstGeom prst="ellipse">
            <a:avLst/>
          </a:prstGeom>
          <a:solidFill>
            <a:srgbClr val="0A2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48F2C4-E850-4D95-9766-05BC64FF45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111B">
              <a:alpha val="8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68D246-A6F9-47A3-A982-1E3DE89E96BA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809750" cy="47625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5C2CE7-3A01-4764-9D48-5380A0FDBE69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10820400" cy="9525"/>
          </a:xfrm>
          <a:prstGeom prst="rect">
            <a:avLst/>
          </a:prstGeom>
          <a:solidFill>
            <a:srgbClr val="1A36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BC726E-3150-4998-AA76-BD125F9733D7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73D8FF"/>
                </a:solidFill>
              </a:defRPr>
            </a:pPr>
            <a:r>
              <a:rPr sz="825" b="1">
                <a:solidFill>
                  <a:srgbClr val="73D8FF"/>
                </a:solidFill>
              </a:rPr>
              <a:t>STEP 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6A5EF1-F53F-4BB8-8C0A-58E6B6A027DF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19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C7D8E8"/>
                </a:solidFill>
              </a:defRPr>
            </a:pPr>
            <a:r>
              <a:rPr sz="825" b="1">
                <a:solidFill>
                  <a:srgbClr val="C7D8E8"/>
                </a:solidFill>
              </a:rPr>
              <a:t>10 / 12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5568AA3-D834-4AE1-B0E7-24A303145A33}"/>
              </a:ext>
            </a:extLst>
          </p:cNvPr>
          <p:cNvSpPr>
            <a:spLocks noGrp="1"/>
          </p:cNvSpPr>
          <p:nvPr/>
        </p:nvSpPr>
        <p:spPr>
          <a:xfrm>
            <a:off x="10267950" y="571500"/>
            <a:ext cx="1066800" cy="1066800"/>
          </a:xfrm>
          <a:prstGeom prst="roundRect">
            <a:avLst>
              <a:gd name="adj" fmla="val 7143"/>
            </a:avLst>
          </a:prstGeom>
          <a:solidFill>
            <a:srgbClr val="0D2032"/>
          </a:solidFill>
          <a:ln w="9525">
            <a:solidFill>
              <a:srgbClr val="1A3650"/>
            </a:solidFill>
            <a:prstDash val="solid"/>
          </a:ln>
        </p:spPr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63200" y="702264"/>
            <a:ext cx="876300" cy="80527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7BEAAFF-C5EE-49E1-ACF9-ADB5F033352D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8096250" cy="1181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Ask For Help And Stay Updated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75D802-557A-4493-97A0-6151165754B9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7429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7D8E8"/>
                </a:solidFill>
              </a:defRPr>
            </a:pPr>
            <a:r>
              <a:rPr sz="1350" b="0">
                <a:solidFill>
                  <a:srgbClr val="C7D8E8"/>
                </a:solidFill>
              </a:rPr>
              <a:t>Use support tools so you do not stay confused or miss important information.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446082A-9E38-4BEA-9803-BF84502B9BBD}"/>
              </a:ext>
            </a:extLst>
          </p:cNvPr>
          <p:cNvSpPr>
            <a:spLocks noGrp="1"/>
          </p:cNvSpPr>
          <p:nvPr/>
        </p:nvSpPr>
        <p:spPr>
          <a:xfrm>
            <a:off x="685800" y="3162300"/>
            <a:ext cx="2590800" cy="2019300"/>
          </a:xfrm>
          <a:prstGeom prst="roundRect">
            <a:avLst>
              <a:gd name="adj" fmla="val 3774"/>
            </a:avLst>
          </a:prstGeom>
          <a:solidFill>
            <a:srgbClr val="11263B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65C5277-19D8-4791-A67A-668461C48851}"/>
              </a:ext>
            </a:extLst>
          </p:cNvPr>
          <p:cNvSpPr>
            <a:spLocks noGrp="1"/>
          </p:cNvSpPr>
          <p:nvPr/>
        </p:nvSpPr>
        <p:spPr>
          <a:xfrm>
            <a:off x="857250" y="3333750"/>
            <a:ext cx="400050" cy="400050"/>
          </a:xfrm>
          <a:prstGeom prst="ellipse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3B863E6-1BAA-4EDF-8565-8807080B0B98}"/>
              </a:ext>
            </a:extLst>
          </p:cNvPr>
          <p:cNvSpPr>
            <a:spLocks noGrp="1"/>
          </p:cNvSpPr>
          <p:nvPr/>
        </p:nvSpPr>
        <p:spPr>
          <a:xfrm>
            <a:off x="981075" y="34385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81827"/>
                </a:solidFill>
              </a:defRPr>
            </a:pPr>
            <a:r>
              <a:rPr sz="975" b="1">
                <a:solidFill>
                  <a:srgbClr val="081827"/>
                </a:solidFill>
              </a:rPr>
              <a:t>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0B1EB4-E67A-4B8D-AB6A-7487EFC09839}"/>
              </a:ext>
            </a:extLst>
          </p:cNvPr>
          <p:cNvSpPr>
            <a:spLocks noGrp="1"/>
          </p:cNvSpPr>
          <p:nvPr/>
        </p:nvSpPr>
        <p:spPr>
          <a:xfrm>
            <a:off x="1371600" y="3371850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3D8FF"/>
                </a:solidFill>
              </a:defRPr>
            </a:pPr>
            <a:r>
              <a:rPr sz="1125" b="1">
                <a:solidFill>
                  <a:srgbClr val="73D8FF"/>
                </a:solidFill>
              </a:rPr>
              <a:t>Open Doubts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EBCA688-3E66-4C43-9287-15957CC9203D}"/>
              </a:ext>
            </a:extLst>
          </p:cNvPr>
          <p:cNvSpPr>
            <a:spLocks noGrp="1"/>
          </p:cNvSpPr>
          <p:nvPr/>
        </p:nvSpPr>
        <p:spPr>
          <a:xfrm>
            <a:off x="857250" y="3943350"/>
            <a:ext cx="22479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Use Doubts when you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get stuck on a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question, topic, or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concept.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74D8E3A-4F90-450C-9250-361BD0904A1C}"/>
              </a:ext>
            </a:extLst>
          </p:cNvPr>
          <p:cNvSpPr>
            <a:spLocks noGrp="1"/>
          </p:cNvSpPr>
          <p:nvPr/>
        </p:nvSpPr>
        <p:spPr>
          <a:xfrm>
            <a:off x="3429000" y="3162300"/>
            <a:ext cx="2590800" cy="2019300"/>
          </a:xfrm>
          <a:prstGeom prst="roundRect">
            <a:avLst>
              <a:gd name="adj" fmla="val 3774"/>
            </a:avLst>
          </a:prstGeom>
          <a:solidFill>
            <a:srgbClr val="11263B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AD8F182-56F0-4547-9E0F-A3E0151CC0B0}"/>
              </a:ext>
            </a:extLst>
          </p:cNvPr>
          <p:cNvSpPr>
            <a:spLocks noGrp="1"/>
          </p:cNvSpPr>
          <p:nvPr/>
        </p:nvSpPr>
        <p:spPr>
          <a:xfrm>
            <a:off x="3600450" y="3333750"/>
            <a:ext cx="400050" cy="400050"/>
          </a:xfrm>
          <a:prstGeom prst="ellipse">
            <a:avLst/>
          </a:prstGeom>
          <a:solidFill>
            <a:srgbClr val="4CB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F2331CD-F28A-4C6E-B950-B30F9F39770C}"/>
              </a:ext>
            </a:extLst>
          </p:cNvPr>
          <p:cNvSpPr>
            <a:spLocks noGrp="1"/>
          </p:cNvSpPr>
          <p:nvPr/>
        </p:nvSpPr>
        <p:spPr>
          <a:xfrm>
            <a:off x="3724275" y="34385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81827"/>
                </a:solidFill>
              </a:defRPr>
            </a:pPr>
            <a:r>
              <a:rPr sz="975" b="1">
                <a:solidFill>
                  <a:srgbClr val="081827"/>
                </a:solidFill>
              </a:rPr>
              <a:t>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F87B804-0155-40EF-A63B-700464B82DF9}"/>
              </a:ext>
            </a:extLst>
          </p:cNvPr>
          <p:cNvSpPr>
            <a:spLocks noGrp="1"/>
          </p:cNvSpPr>
          <p:nvPr/>
        </p:nvSpPr>
        <p:spPr>
          <a:xfrm>
            <a:off x="4114800" y="3371850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3D8FF"/>
                </a:solidFill>
              </a:defRPr>
            </a:pPr>
            <a:r>
              <a:rPr sz="1125" b="1">
                <a:solidFill>
                  <a:srgbClr val="73D8FF"/>
                </a:solidFill>
              </a:rPr>
              <a:t>Use Chat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1867DA3-2950-4936-93F6-38BA00D62281}"/>
              </a:ext>
            </a:extLst>
          </p:cNvPr>
          <p:cNvSpPr>
            <a:spLocks noGrp="1"/>
          </p:cNvSpPr>
          <p:nvPr/>
        </p:nvSpPr>
        <p:spPr>
          <a:xfrm>
            <a:off x="3600450" y="3943350"/>
            <a:ext cx="22479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Use Chat to stay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connected inside the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platform and follow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student communication.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8802850-26DA-40C0-915B-590E353E88C0}"/>
              </a:ext>
            </a:extLst>
          </p:cNvPr>
          <p:cNvSpPr>
            <a:spLocks noGrp="1"/>
          </p:cNvSpPr>
          <p:nvPr/>
        </p:nvSpPr>
        <p:spPr>
          <a:xfrm>
            <a:off x="6172200" y="3162300"/>
            <a:ext cx="2590800" cy="2019300"/>
          </a:xfrm>
          <a:prstGeom prst="roundRect">
            <a:avLst>
              <a:gd name="adj" fmla="val 3774"/>
            </a:avLst>
          </a:prstGeom>
          <a:solidFill>
            <a:srgbClr val="11263B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76E8AB7-5CE7-4305-9C5F-181747E55E81}"/>
              </a:ext>
            </a:extLst>
          </p:cNvPr>
          <p:cNvSpPr>
            <a:spLocks noGrp="1"/>
          </p:cNvSpPr>
          <p:nvPr/>
        </p:nvSpPr>
        <p:spPr>
          <a:xfrm>
            <a:off x="6343650" y="3333750"/>
            <a:ext cx="400050" cy="400050"/>
          </a:xfrm>
          <a:prstGeom prst="ellipse">
            <a:avLst/>
          </a:prstGeom>
          <a:solidFill>
            <a:srgbClr val="2F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A2C2075-9F23-4566-963C-566294C46F6D}"/>
              </a:ext>
            </a:extLst>
          </p:cNvPr>
          <p:cNvSpPr>
            <a:spLocks noGrp="1"/>
          </p:cNvSpPr>
          <p:nvPr/>
        </p:nvSpPr>
        <p:spPr>
          <a:xfrm>
            <a:off x="6467475" y="34385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81827"/>
                </a:solidFill>
              </a:defRPr>
            </a:pPr>
            <a:r>
              <a:rPr sz="975" b="1">
                <a:solidFill>
                  <a:srgbClr val="081827"/>
                </a:solidFill>
              </a:rPr>
              <a:t>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C0F7CA7-07C4-412E-AFE1-D4F8433E3943}"/>
              </a:ext>
            </a:extLst>
          </p:cNvPr>
          <p:cNvSpPr>
            <a:spLocks noGrp="1"/>
          </p:cNvSpPr>
          <p:nvPr/>
        </p:nvSpPr>
        <p:spPr>
          <a:xfrm>
            <a:off x="6858000" y="3371850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3D8FF"/>
                </a:solidFill>
              </a:defRPr>
            </a:pPr>
            <a:r>
              <a:rPr sz="1125" b="1">
                <a:solidFill>
                  <a:srgbClr val="73D8FF"/>
                </a:solidFill>
              </a:rPr>
              <a:t>Check Notice</a:t>
            </a:r>
          </a:p>
          <a:p>
            <a:pPr algn="l">
              <a:defRPr sz="1125" b="1">
                <a:solidFill>
                  <a:srgbClr val="73D8FF"/>
                </a:solidFill>
              </a:defRPr>
            </a:pPr>
            <a:r>
              <a:rPr sz="1125" b="1">
                <a:solidFill>
                  <a:srgbClr val="73D8FF"/>
                </a:solidFill>
              </a:rPr>
              <a:t>Board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9CB8758-4D2B-4A0A-BB8A-B1B6130AF385}"/>
              </a:ext>
            </a:extLst>
          </p:cNvPr>
          <p:cNvSpPr>
            <a:spLocks noGrp="1"/>
          </p:cNvSpPr>
          <p:nvPr/>
        </p:nvSpPr>
        <p:spPr>
          <a:xfrm>
            <a:off x="6343650" y="3943350"/>
            <a:ext cx="22479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Use Notice Board for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student notices and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important academic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updates.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5490237-D279-442A-B2C1-4C0B10FEDAED}"/>
              </a:ext>
            </a:extLst>
          </p:cNvPr>
          <p:cNvSpPr>
            <a:spLocks noGrp="1"/>
          </p:cNvSpPr>
          <p:nvPr/>
        </p:nvSpPr>
        <p:spPr>
          <a:xfrm>
            <a:off x="8915400" y="3162300"/>
            <a:ext cx="2590800" cy="2019300"/>
          </a:xfrm>
          <a:prstGeom prst="roundRect">
            <a:avLst>
              <a:gd name="adj" fmla="val 3774"/>
            </a:avLst>
          </a:prstGeom>
          <a:solidFill>
            <a:srgbClr val="11263B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80340F4-9DAC-4931-BCDF-088EA0CA2118}"/>
              </a:ext>
            </a:extLst>
          </p:cNvPr>
          <p:cNvSpPr>
            <a:spLocks noGrp="1"/>
          </p:cNvSpPr>
          <p:nvPr/>
        </p:nvSpPr>
        <p:spPr>
          <a:xfrm>
            <a:off x="9086850" y="3333750"/>
            <a:ext cx="400050" cy="400050"/>
          </a:xfrm>
          <a:prstGeom prst="ellipse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B718FDD-0D89-4ED5-A2CE-F494E4AD3391}"/>
              </a:ext>
            </a:extLst>
          </p:cNvPr>
          <p:cNvSpPr>
            <a:spLocks noGrp="1"/>
          </p:cNvSpPr>
          <p:nvPr/>
        </p:nvSpPr>
        <p:spPr>
          <a:xfrm>
            <a:off x="9210675" y="34385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81827"/>
                </a:solidFill>
              </a:defRPr>
            </a:pPr>
            <a:r>
              <a:rPr sz="975" b="1">
                <a:solidFill>
                  <a:srgbClr val="081827"/>
                </a:solidFill>
              </a:rPr>
              <a:t>4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3468687-A469-4524-86E0-2EFCD399DAA4}"/>
              </a:ext>
            </a:extLst>
          </p:cNvPr>
          <p:cNvSpPr>
            <a:spLocks noGrp="1"/>
          </p:cNvSpPr>
          <p:nvPr/>
        </p:nvSpPr>
        <p:spPr>
          <a:xfrm>
            <a:off x="9601200" y="3371850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3D8FF"/>
                </a:solidFill>
              </a:defRPr>
            </a:pPr>
            <a:r>
              <a:rPr sz="1125" b="1">
                <a:solidFill>
                  <a:srgbClr val="73D8FF"/>
                </a:solidFill>
              </a:rPr>
              <a:t>Track Exam</a:t>
            </a:r>
          </a:p>
          <a:p>
            <a:pPr algn="l">
              <a:defRPr sz="1125" b="1">
                <a:solidFill>
                  <a:srgbClr val="73D8FF"/>
                </a:solidFill>
              </a:defRPr>
            </a:pPr>
            <a:r>
              <a:rPr sz="1125" b="1">
                <a:solidFill>
                  <a:srgbClr val="73D8FF"/>
                </a:solidFill>
              </a:rPr>
              <a:t>Bulletin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CCEF1EB-6E62-4A26-AF4A-502237AF4E0A}"/>
              </a:ext>
            </a:extLst>
          </p:cNvPr>
          <p:cNvSpPr>
            <a:spLocks noGrp="1"/>
          </p:cNvSpPr>
          <p:nvPr/>
        </p:nvSpPr>
        <p:spPr>
          <a:xfrm>
            <a:off x="9086850" y="3943350"/>
            <a:ext cx="22479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Use Exam Bulletin to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stay aware of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important exam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deadlines and notices.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E8A5BB0-574E-4563-87B8-5D606D6BD381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820400" cy="381000"/>
          </a:xfrm>
          <a:prstGeom prst="roundRect">
            <a:avLst>
              <a:gd name="adj" fmla="val 20000"/>
            </a:avLst>
          </a:prstGeom>
          <a:solidFill>
            <a:srgbClr val="0A1824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57B9384-692F-4A19-8D3C-CB4CC178DFC8}"/>
              </a:ext>
            </a:extLst>
          </p:cNvPr>
          <p:cNvSpPr>
            <a:spLocks noGrp="1"/>
          </p:cNvSpPr>
          <p:nvPr/>
        </p:nvSpPr>
        <p:spPr>
          <a:xfrm>
            <a:off x="857250" y="5734050"/>
            <a:ext cx="10477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C7D8E8"/>
                </a:solidFill>
              </a:defRPr>
            </a:pPr>
            <a:r>
              <a:rPr sz="825" b="0">
                <a:solidFill>
                  <a:srgbClr val="C7D8E8"/>
                </a:solidFill>
              </a:rPr>
              <a:t>Good students do not hide confusion. They ask, connect, and stay informed.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1AFDBA0-A84B-475E-966C-2B227DF1DBD7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905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dcamclasses.in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345485E-91DE-4E11-9031-024753D56FD4}"/>
              </a:ext>
            </a:extLst>
          </p:cNvPr>
          <p:cNvSpPr>
            <a:spLocks noGrp="1"/>
          </p:cNvSpPr>
          <p:nvPr/>
        </p:nvSpPr>
        <p:spPr>
          <a:xfrm>
            <a:off x="9525000" y="6286500"/>
            <a:ext cx="1981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Student Seminar Guide</a:t>
            </a:r>
          </a:p>
        </p:txBody>
      </p:sp>
    </p:spTree>
    <p:extLst>
      <p:ext uri="{BB962C8B-B14F-4D97-AF65-F5344CB8AC3E}">
        <p14:creationId xmlns:p14="http://schemas.microsoft.com/office/powerpoint/2010/main" val="1747366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0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0701CD60-24C2-4FCA-9ECA-67F66B848ED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AB432B-55F6-4873-9E50-DA3E571AA1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10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9750553-1105-40D2-A2F0-774A36786767}"/>
              </a:ext>
            </a:extLst>
          </p:cNvPr>
          <p:cNvSpPr>
            <a:spLocks noGrp="1"/>
          </p:cNvSpPr>
          <p:nvPr/>
        </p:nvSpPr>
        <p:spPr>
          <a:xfrm>
            <a:off x="-1333500" y="-1143000"/>
            <a:ext cx="4000500" cy="4000500"/>
          </a:xfrm>
          <a:prstGeom prst="ellipse">
            <a:avLst/>
          </a:prstGeom>
          <a:solidFill>
            <a:srgbClr val="0C2C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6E0B554-0276-455C-89EC-07CA124034A2}"/>
              </a:ext>
            </a:extLst>
          </p:cNvPr>
          <p:cNvSpPr>
            <a:spLocks noGrp="1"/>
          </p:cNvSpPr>
          <p:nvPr/>
        </p:nvSpPr>
        <p:spPr>
          <a:xfrm>
            <a:off x="8572500" y="-1143000"/>
            <a:ext cx="3429000" cy="3429000"/>
          </a:xfrm>
          <a:prstGeom prst="ellipse">
            <a:avLst/>
          </a:prstGeom>
          <a:solidFill>
            <a:srgbClr val="0E2C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314C6EB-884A-49B1-942F-2EB36277C289}"/>
              </a:ext>
            </a:extLst>
          </p:cNvPr>
          <p:cNvSpPr>
            <a:spLocks noGrp="1"/>
          </p:cNvSpPr>
          <p:nvPr/>
        </p:nvSpPr>
        <p:spPr>
          <a:xfrm>
            <a:off x="8382000" y="4095750"/>
            <a:ext cx="4762500" cy="4762500"/>
          </a:xfrm>
          <a:prstGeom prst="ellipse">
            <a:avLst/>
          </a:prstGeom>
          <a:solidFill>
            <a:srgbClr val="0A2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4C01F3-90E7-4AAF-8D7B-59415820537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111B">
              <a:alpha val="8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37AB47-39F1-473B-8102-412C4762881A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809750" cy="47625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8A9619-3D6A-457E-A79A-16D70D54B07B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10820400" cy="9525"/>
          </a:xfrm>
          <a:prstGeom prst="rect">
            <a:avLst/>
          </a:prstGeom>
          <a:solidFill>
            <a:srgbClr val="1A36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255343-D973-4CFA-96F7-7465E6864390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73D8FF"/>
                </a:solidFill>
              </a:defRPr>
            </a:pPr>
            <a:r>
              <a:rPr sz="825" b="1">
                <a:solidFill>
                  <a:srgbClr val="73D8FF"/>
                </a:solidFill>
              </a:rPr>
              <a:t>BY CLASS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F8FC3C-E195-4D04-AAFD-E27933BC6B38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19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C7D8E8"/>
                </a:solidFill>
              </a:defRPr>
            </a:pPr>
            <a:r>
              <a:rPr sz="825" b="1">
                <a:solidFill>
                  <a:srgbClr val="C7D8E8"/>
                </a:solidFill>
              </a:rPr>
              <a:t>11 / 12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BFF0984-A918-416B-9E8E-26954396CD13}"/>
              </a:ext>
            </a:extLst>
          </p:cNvPr>
          <p:cNvSpPr>
            <a:spLocks noGrp="1"/>
          </p:cNvSpPr>
          <p:nvPr/>
        </p:nvSpPr>
        <p:spPr>
          <a:xfrm>
            <a:off x="10267950" y="571500"/>
            <a:ext cx="1066800" cy="1066800"/>
          </a:xfrm>
          <a:prstGeom prst="roundRect">
            <a:avLst>
              <a:gd name="adj" fmla="val 7143"/>
            </a:avLst>
          </a:prstGeom>
          <a:solidFill>
            <a:srgbClr val="0D2032"/>
          </a:solidFill>
          <a:ln w="9525">
            <a:solidFill>
              <a:srgbClr val="1A3650"/>
            </a:solidFill>
            <a:prstDash val="solid"/>
          </a:ln>
        </p:spPr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63200" y="702264"/>
            <a:ext cx="876300" cy="80527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AA476E5-3576-4038-89A4-F7BFA06C812F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8096250" cy="1181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How To Use DCAM From Class 9 To</a:t>
            </a:r>
          </a:p>
          <a:p>
            <a:pPr algn="l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12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FE2975-FFAB-4A23-8A77-9C4F235A3E07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7429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7D8E8"/>
                </a:solidFill>
              </a:defRPr>
            </a:pPr>
            <a:r>
              <a:rPr sz="1350" b="0">
                <a:solidFill>
                  <a:srgbClr val="C7D8E8"/>
                </a:solidFill>
              </a:rPr>
              <a:t>Students from different classes can use the same platform in different ways.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E908946-87B8-44E7-9814-35AEF7AC9403}"/>
              </a:ext>
            </a:extLst>
          </p:cNvPr>
          <p:cNvSpPr>
            <a:spLocks noGrp="1"/>
          </p:cNvSpPr>
          <p:nvPr/>
        </p:nvSpPr>
        <p:spPr>
          <a:xfrm>
            <a:off x="685800" y="3086100"/>
            <a:ext cx="5143500" cy="2286000"/>
          </a:xfrm>
          <a:prstGeom prst="roundRect">
            <a:avLst>
              <a:gd name="adj" fmla="val 3333"/>
            </a:avLst>
          </a:prstGeom>
          <a:solidFill>
            <a:srgbClr val="0A1927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EE1F87-36D8-4B15-804B-6067F47D9A19}"/>
              </a:ext>
            </a:extLst>
          </p:cNvPr>
          <p:cNvSpPr>
            <a:spLocks noGrp="1"/>
          </p:cNvSpPr>
          <p:nvPr/>
        </p:nvSpPr>
        <p:spPr>
          <a:xfrm>
            <a:off x="876300" y="3257550"/>
            <a:ext cx="476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73D8FF"/>
                </a:solidFill>
              </a:defRPr>
            </a:pPr>
            <a:r>
              <a:rPr sz="1350" b="1">
                <a:solidFill>
                  <a:srgbClr val="73D8FF"/>
                </a:solidFill>
              </a:rPr>
              <a:t>If You Are In Class 9 Or 10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C0530B3-D62F-44E4-9BE3-0865E510CE53}"/>
              </a:ext>
            </a:extLst>
          </p:cNvPr>
          <p:cNvSpPr>
            <a:spLocks noGrp="1"/>
          </p:cNvSpPr>
          <p:nvPr/>
        </p:nvSpPr>
        <p:spPr>
          <a:xfrm>
            <a:off x="876300" y="3619500"/>
            <a:ext cx="4762500" cy="1543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1. Build basics and study habits.</a:t>
            </a:r>
          </a:p>
          <a:p>
            <a:endParaRPr sz="1125" b="0">
              <a:solidFill>
                <a:srgbClr val="F7FBFF"/>
              </a:solidFill>
            </a:endParaRP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2. Use courses and simple practice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   regularly.</a:t>
            </a:r>
          </a:p>
          <a:p>
            <a:endParaRPr sz="1125" b="0">
              <a:solidFill>
                <a:srgbClr val="F7FBFF"/>
              </a:solidFill>
            </a:endParaRP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3. Learn concepts properly before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   rushing into heavy test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   pressure.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2B75A83-AEAB-41C1-B438-D47AE38B067A}"/>
              </a:ext>
            </a:extLst>
          </p:cNvPr>
          <p:cNvSpPr>
            <a:spLocks noGrp="1"/>
          </p:cNvSpPr>
          <p:nvPr/>
        </p:nvSpPr>
        <p:spPr>
          <a:xfrm>
            <a:off x="6362700" y="3086100"/>
            <a:ext cx="5143500" cy="2286000"/>
          </a:xfrm>
          <a:prstGeom prst="roundRect">
            <a:avLst>
              <a:gd name="adj" fmla="val 3333"/>
            </a:avLst>
          </a:prstGeom>
          <a:solidFill>
            <a:srgbClr val="0A1927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DC93E17-007F-4603-BB20-0C5007DF9014}"/>
              </a:ext>
            </a:extLst>
          </p:cNvPr>
          <p:cNvSpPr>
            <a:spLocks noGrp="1"/>
          </p:cNvSpPr>
          <p:nvPr/>
        </p:nvSpPr>
        <p:spPr>
          <a:xfrm>
            <a:off x="6553200" y="3257550"/>
            <a:ext cx="476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73D8FF"/>
                </a:solidFill>
              </a:defRPr>
            </a:pPr>
            <a:r>
              <a:rPr sz="1350" b="1">
                <a:solidFill>
                  <a:srgbClr val="73D8FF"/>
                </a:solidFill>
              </a:rPr>
              <a:t>If You Are In Class 11 Or 12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26DD1C6-F6B1-4084-BF5C-2D5461ADD884}"/>
              </a:ext>
            </a:extLst>
          </p:cNvPr>
          <p:cNvSpPr>
            <a:spLocks noGrp="1"/>
          </p:cNvSpPr>
          <p:nvPr/>
        </p:nvSpPr>
        <p:spPr>
          <a:xfrm>
            <a:off x="6553200" y="3619500"/>
            <a:ext cx="4762500" cy="1543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1. Use batches, practice, and mock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   tests more seriously.</a:t>
            </a:r>
          </a:p>
          <a:p>
            <a:endParaRPr sz="1125" b="0">
              <a:solidFill>
                <a:srgbClr val="F7FBFF"/>
              </a:solidFill>
            </a:endParaRP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2. Track weak areas every week.</a:t>
            </a:r>
          </a:p>
          <a:p>
            <a:endParaRPr sz="1125" b="0">
              <a:solidFill>
                <a:srgbClr val="F7FBFF"/>
              </a:solidFill>
            </a:endParaRP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3. Use doubts, notices, and exam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   updates regularly.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9FD6387-E568-4BF8-86D3-819A58AA90D9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820400" cy="381000"/>
          </a:xfrm>
          <a:prstGeom prst="roundRect">
            <a:avLst>
              <a:gd name="adj" fmla="val 20000"/>
            </a:avLst>
          </a:prstGeom>
          <a:solidFill>
            <a:srgbClr val="0A1824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32D2A78-038E-4C28-884C-84F59D2B106D}"/>
              </a:ext>
            </a:extLst>
          </p:cNvPr>
          <p:cNvSpPr>
            <a:spLocks noGrp="1"/>
          </p:cNvSpPr>
          <p:nvPr/>
        </p:nvSpPr>
        <p:spPr>
          <a:xfrm>
            <a:off x="857250" y="5734050"/>
            <a:ext cx="10477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C7D8E8"/>
                </a:solidFill>
              </a:defRPr>
            </a:pPr>
            <a:r>
              <a:rPr sz="825" b="0">
                <a:solidFill>
                  <a:srgbClr val="C7D8E8"/>
                </a:solidFill>
              </a:rPr>
              <a:t>Start at your level and use DCAM according to your stage of preparation.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98587B-A5C1-4FC6-8C1E-49CBA1176797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905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dcamclasses.in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6C6D3B6-EC15-4E8B-BD8E-26A625EFFA18}"/>
              </a:ext>
            </a:extLst>
          </p:cNvPr>
          <p:cNvSpPr>
            <a:spLocks noGrp="1"/>
          </p:cNvSpPr>
          <p:nvPr/>
        </p:nvSpPr>
        <p:spPr>
          <a:xfrm>
            <a:off x="9525000" y="6286500"/>
            <a:ext cx="1981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Student Seminar Guide</a:t>
            </a:r>
          </a:p>
        </p:txBody>
      </p:sp>
    </p:spTree>
    <p:extLst>
      <p:ext uri="{BB962C8B-B14F-4D97-AF65-F5344CB8AC3E}">
        <p14:creationId xmlns:p14="http://schemas.microsoft.com/office/powerpoint/2010/main" val="1781087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0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 Placeholder 5">
            <a:extLst>
              <a:ext uri="{FF2B5EF4-FFF2-40B4-BE49-F238E27FC236}">
                <a16:creationId xmlns:a16="http://schemas.microsoft.com/office/drawing/2014/main" id="{0701CD60-24C2-4FCA-9ECA-67F66B848ED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24077A-E378-41A3-B41D-A9B4CF074D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10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F6AB20B-0CCE-4418-8096-0FE1BE4C682D}"/>
              </a:ext>
            </a:extLst>
          </p:cNvPr>
          <p:cNvSpPr>
            <a:spLocks noGrp="1"/>
          </p:cNvSpPr>
          <p:nvPr/>
        </p:nvSpPr>
        <p:spPr>
          <a:xfrm>
            <a:off x="-1333500" y="-1143000"/>
            <a:ext cx="4000500" cy="4000500"/>
          </a:xfrm>
          <a:prstGeom prst="ellipse">
            <a:avLst/>
          </a:prstGeom>
          <a:solidFill>
            <a:srgbClr val="0C2C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B9010D6-3636-4073-B0E1-AE0F642304D0}"/>
              </a:ext>
            </a:extLst>
          </p:cNvPr>
          <p:cNvSpPr>
            <a:spLocks noGrp="1"/>
          </p:cNvSpPr>
          <p:nvPr/>
        </p:nvSpPr>
        <p:spPr>
          <a:xfrm>
            <a:off x="8572500" y="-1143000"/>
            <a:ext cx="3429000" cy="3429000"/>
          </a:xfrm>
          <a:prstGeom prst="ellipse">
            <a:avLst/>
          </a:prstGeom>
          <a:solidFill>
            <a:srgbClr val="0E2C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4D0476E-60B9-4E40-8A69-8CB5058F9889}"/>
              </a:ext>
            </a:extLst>
          </p:cNvPr>
          <p:cNvSpPr>
            <a:spLocks noGrp="1"/>
          </p:cNvSpPr>
          <p:nvPr/>
        </p:nvSpPr>
        <p:spPr>
          <a:xfrm>
            <a:off x="8382000" y="4095750"/>
            <a:ext cx="4762500" cy="4762500"/>
          </a:xfrm>
          <a:prstGeom prst="ellipse">
            <a:avLst/>
          </a:prstGeom>
          <a:solidFill>
            <a:srgbClr val="0A2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C0B140-B472-48D2-8B00-DA31C7F9598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111B">
              <a:alpha val="8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E820D8-422B-4936-B25D-564B412BCAF4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809750" cy="47625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3ADF9B-68A1-44CD-8ED4-821DE3C90BBE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10820400" cy="9525"/>
          </a:xfrm>
          <a:prstGeom prst="rect">
            <a:avLst/>
          </a:prstGeom>
          <a:solidFill>
            <a:srgbClr val="1A36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EA7C59-B094-437E-AC28-70D737AB5503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73D8FF"/>
                </a:solidFill>
              </a:defRPr>
            </a:pPr>
            <a:r>
              <a:rPr sz="825" b="1">
                <a:solidFill>
                  <a:srgbClr val="73D8FF"/>
                </a:solidFill>
              </a:rPr>
              <a:t>SIMPLE ROUTINE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7A5108-3417-4DD0-8F89-9AE83CCBA5B7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19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C7D8E8"/>
                </a:solidFill>
              </a:defRPr>
            </a:pPr>
            <a:r>
              <a:rPr sz="825" b="1">
                <a:solidFill>
                  <a:srgbClr val="C7D8E8"/>
                </a:solidFill>
              </a:rPr>
              <a:t>12 / 12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546A44B-0932-4409-B7A7-F945187A6574}"/>
              </a:ext>
            </a:extLst>
          </p:cNvPr>
          <p:cNvSpPr>
            <a:spLocks noGrp="1"/>
          </p:cNvSpPr>
          <p:nvPr/>
        </p:nvSpPr>
        <p:spPr>
          <a:xfrm>
            <a:off x="10267950" y="571500"/>
            <a:ext cx="1066800" cy="1066800"/>
          </a:xfrm>
          <a:prstGeom prst="roundRect">
            <a:avLst>
              <a:gd name="adj" fmla="val 7143"/>
            </a:avLst>
          </a:prstGeom>
          <a:solidFill>
            <a:srgbClr val="0D2032"/>
          </a:solidFill>
          <a:ln w="9525">
            <a:solidFill>
              <a:srgbClr val="1A3650"/>
            </a:solidFill>
            <a:prstDash val="solid"/>
          </a:ln>
        </p:spPr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63200" y="702264"/>
            <a:ext cx="876300" cy="80527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6AEDA53-89AD-4DB4-BECF-974078B6C744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8096250" cy="1181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A Good Weekly Routine After</a:t>
            </a:r>
          </a:p>
          <a:p>
            <a:pPr algn="l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This Seminar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AFFA43-2315-49C4-BA92-96F94773C687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7429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7D8E8"/>
                </a:solidFill>
              </a:defRPr>
            </a:pPr>
            <a:r>
              <a:rPr sz="1350" b="0">
                <a:solidFill>
                  <a:srgbClr val="C7D8E8"/>
                </a:solidFill>
              </a:rPr>
              <a:t>A small routine followed regularly is better than a big plan you cannot</a:t>
            </a:r>
          </a:p>
          <a:p>
            <a:pPr algn="l">
              <a:defRPr sz="1350" b="0">
                <a:solidFill>
                  <a:srgbClr val="C7D8E8"/>
                </a:solidFill>
              </a:defRPr>
            </a:pPr>
            <a:r>
              <a:rPr sz="1350" b="0">
                <a:solidFill>
                  <a:srgbClr val="C7D8E8"/>
                </a:solidFill>
              </a:rPr>
              <a:t>continue.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CB959F2-C5D4-4DC6-A21A-1A14FC01658A}"/>
              </a:ext>
            </a:extLst>
          </p:cNvPr>
          <p:cNvSpPr>
            <a:spLocks noGrp="1"/>
          </p:cNvSpPr>
          <p:nvPr/>
        </p:nvSpPr>
        <p:spPr>
          <a:xfrm>
            <a:off x="685800" y="3067050"/>
            <a:ext cx="3479800" cy="2266950"/>
          </a:xfrm>
          <a:prstGeom prst="roundRect">
            <a:avLst>
              <a:gd name="adj" fmla="val 3361"/>
            </a:avLst>
          </a:prstGeom>
          <a:solidFill>
            <a:srgbClr val="0C1D2E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9870C6E-EC8E-444E-B1CD-DBF27D6C88BB}"/>
              </a:ext>
            </a:extLst>
          </p:cNvPr>
          <p:cNvSpPr>
            <a:spLocks noGrp="1"/>
          </p:cNvSpPr>
          <p:nvPr/>
        </p:nvSpPr>
        <p:spPr>
          <a:xfrm>
            <a:off x="685800" y="3067050"/>
            <a:ext cx="3479800" cy="47625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4400C94-9102-4464-9C5A-9CFA58AF5848}"/>
              </a:ext>
            </a:extLst>
          </p:cNvPr>
          <p:cNvSpPr>
            <a:spLocks noGrp="1"/>
          </p:cNvSpPr>
          <p:nvPr/>
        </p:nvSpPr>
        <p:spPr>
          <a:xfrm>
            <a:off x="876300" y="3257550"/>
            <a:ext cx="361950" cy="361950"/>
          </a:xfrm>
          <a:prstGeom prst="ellipse">
            <a:avLst/>
          </a:prstGeom>
          <a:solidFill>
            <a:srgbClr val="1231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8560F4A-9B59-4090-9F1E-EAA28B488FF2}"/>
              </a:ext>
            </a:extLst>
          </p:cNvPr>
          <p:cNvSpPr>
            <a:spLocks noGrp="1"/>
          </p:cNvSpPr>
          <p:nvPr/>
        </p:nvSpPr>
        <p:spPr>
          <a:xfrm>
            <a:off x="981075" y="33242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73D8FF"/>
                </a:solidFill>
              </a:defRPr>
            </a:pPr>
            <a:r>
              <a:rPr sz="975" b="1">
                <a:solidFill>
                  <a:srgbClr val="73D8FF"/>
                </a:solidFill>
              </a:rPr>
              <a:t>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50E90FC-CC62-4943-9CFA-32A44C419E81}"/>
              </a:ext>
            </a:extLst>
          </p:cNvPr>
          <p:cNvSpPr>
            <a:spLocks noGrp="1"/>
          </p:cNvSpPr>
          <p:nvPr/>
        </p:nvSpPr>
        <p:spPr>
          <a:xfrm>
            <a:off x="1390650" y="3276600"/>
            <a:ext cx="2565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3D8FF"/>
                </a:solidFill>
              </a:defRPr>
            </a:pPr>
            <a:r>
              <a:rPr sz="1200" b="1">
                <a:solidFill>
                  <a:srgbClr val="73D8FF"/>
                </a:solidFill>
              </a:rPr>
              <a:t>Learn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A172460-FD1E-4E74-A5F8-B6A0A97FCE54}"/>
              </a:ext>
            </a:extLst>
          </p:cNvPr>
          <p:cNvSpPr>
            <a:spLocks noGrp="1"/>
          </p:cNvSpPr>
          <p:nvPr/>
        </p:nvSpPr>
        <p:spPr>
          <a:xfrm>
            <a:off x="876300" y="3867150"/>
            <a:ext cx="30988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Use courses or live batches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on most days of the week to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stay connected to your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syllabus.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7E75857-F9EA-4F71-9717-F50AC3686448}"/>
              </a:ext>
            </a:extLst>
          </p:cNvPr>
          <p:cNvSpPr>
            <a:spLocks noGrp="1"/>
          </p:cNvSpPr>
          <p:nvPr/>
        </p:nvSpPr>
        <p:spPr>
          <a:xfrm>
            <a:off x="4356100" y="3067050"/>
            <a:ext cx="3479800" cy="2266950"/>
          </a:xfrm>
          <a:prstGeom prst="roundRect">
            <a:avLst>
              <a:gd name="adj" fmla="val 3361"/>
            </a:avLst>
          </a:prstGeom>
          <a:solidFill>
            <a:srgbClr val="0C1D2E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7C6A5C-97F2-4F8B-99B8-3EEC7C285E1A}"/>
              </a:ext>
            </a:extLst>
          </p:cNvPr>
          <p:cNvSpPr>
            <a:spLocks noGrp="1"/>
          </p:cNvSpPr>
          <p:nvPr/>
        </p:nvSpPr>
        <p:spPr>
          <a:xfrm>
            <a:off x="4356100" y="3067050"/>
            <a:ext cx="3479800" cy="47625"/>
          </a:xfrm>
          <a:prstGeom prst="rect">
            <a:avLst/>
          </a:prstGeom>
          <a:solidFill>
            <a:srgbClr val="4CB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61C746B-6AAD-4BEF-840D-59BC752FDEE3}"/>
              </a:ext>
            </a:extLst>
          </p:cNvPr>
          <p:cNvSpPr>
            <a:spLocks noGrp="1"/>
          </p:cNvSpPr>
          <p:nvPr/>
        </p:nvSpPr>
        <p:spPr>
          <a:xfrm>
            <a:off x="4546600" y="3257550"/>
            <a:ext cx="361950" cy="361950"/>
          </a:xfrm>
          <a:prstGeom prst="ellipse">
            <a:avLst/>
          </a:prstGeom>
          <a:solidFill>
            <a:srgbClr val="1231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8DC6A2B-A633-4F47-A9DF-F9E7BD026D81}"/>
              </a:ext>
            </a:extLst>
          </p:cNvPr>
          <p:cNvSpPr>
            <a:spLocks noGrp="1"/>
          </p:cNvSpPr>
          <p:nvPr/>
        </p:nvSpPr>
        <p:spPr>
          <a:xfrm>
            <a:off x="4651375" y="33242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4CB6FF"/>
                </a:solidFill>
              </a:defRPr>
            </a:pPr>
            <a:r>
              <a:rPr sz="975" b="1">
                <a:solidFill>
                  <a:srgbClr val="4CB6FF"/>
                </a:solidFill>
              </a:rPr>
              <a:t>P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158B1D6-8812-4E8A-9512-05E4E49FE091}"/>
              </a:ext>
            </a:extLst>
          </p:cNvPr>
          <p:cNvSpPr>
            <a:spLocks noGrp="1"/>
          </p:cNvSpPr>
          <p:nvPr/>
        </p:nvSpPr>
        <p:spPr>
          <a:xfrm>
            <a:off x="5060950" y="3276600"/>
            <a:ext cx="2565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3D8FF"/>
                </a:solidFill>
              </a:defRPr>
            </a:pPr>
            <a:r>
              <a:rPr sz="1200" b="1">
                <a:solidFill>
                  <a:srgbClr val="73D8FF"/>
                </a:solidFill>
              </a:rPr>
              <a:t>Practice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2E71E71-25C9-4A65-819F-9E2C38307434}"/>
              </a:ext>
            </a:extLst>
          </p:cNvPr>
          <p:cNvSpPr>
            <a:spLocks noGrp="1"/>
          </p:cNvSpPr>
          <p:nvPr/>
        </p:nvSpPr>
        <p:spPr>
          <a:xfrm>
            <a:off x="4546600" y="3867150"/>
            <a:ext cx="30988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Do a few practice sessions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and at least one test or mini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test every week.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E465E1A-58D1-4CAD-9F0E-728C51CC8EF1}"/>
              </a:ext>
            </a:extLst>
          </p:cNvPr>
          <p:cNvSpPr>
            <a:spLocks noGrp="1"/>
          </p:cNvSpPr>
          <p:nvPr/>
        </p:nvSpPr>
        <p:spPr>
          <a:xfrm>
            <a:off x="8026400" y="3067050"/>
            <a:ext cx="3479800" cy="2266950"/>
          </a:xfrm>
          <a:prstGeom prst="roundRect">
            <a:avLst>
              <a:gd name="adj" fmla="val 3361"/>
            </a:avLst>
          </a:prstGeom>
          <a:solidFill>
            <a:srgbClr val="0C1D2E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ADFC3E0-AD38-48C8-A507-9C267EC57502}"/>
              </a:ext>
            </a:extLst>
          </p:cNvPr>
          <p:cNvSpPr>
            <a:spLocks noGrp="1"/>
          </p:cNvSpPr>
          <p:nvPr/>
        </p:nvSpPr>
        <p:spPr>
          <a:xfrm>
            <a:off x="8026400" y="3067050"/>
            <a:ext cx="3479800" cy="47625"/>
          </a:xfrm>
          <a:prstGeom prst="rect">
            <a:avLst/>
          </a:prstGeom>
          <a:solidFill>
            <a:srgbClr val="2F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EC18692-2B47-42F7-91AE-E9C9390536BD}"/>
              </a:ext>
            </a:extLst>
          </p:cNvPr>
          <p:cNvSpPr>
            <a:spLocks noGrp="1"/>
          </p:cNvSpPr>
          <p:nvPr/>
        </p:nvSpPr>
        <p:spPr>
          <a:xfrm>
            <a:off x="8216900" y="3257550"/>
            <a:ext cx="361950" cy="361950"/>
          </a:xfrm>
          <a:prstGeom prst="ellipse">
            <a:avLst/>
          </a:prstGeom>
          <a:solidFill>
            <a:srgbClr val="1231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A2E1540-B974-477B-8A79-F62B0A84DA99}"/>
              </a:ext>
            </a:extLst>
          </p:cNvPr>
          <p:cNvSpPr>
            <a:spLocks noGrp="1"/>
          </p:cNvSpPr>
          <p:nvPr/>
        </p:nvSpPr>
        <p:spPr>
          <a:xfrm>
            <a:off x="8321675" y="33242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2F6CFF"/>
                </a:solidFill>
              </a:defRPr>
            </a:pPr>
            <a:r>
              <a:rPr sz="975" b="1">
                <a:solidFill>
                  <a:srgbClr val="2F6CFF"/>
                </a:solidFill>
              </a:rPr>
              <a:t>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150898A-D0EF-49BE-998C-5F7A33EE3EE6}"/>
              </a:ext>
            </a:extLst>
          </p:cNvPr>
          <p:cNvSpPr>
            <a:spLocks noGrp="1"/>
          </p:cNvSpPr>
          <p:nvPr/>
        </p:nvSpPr>
        <p:spPr>
          <a:xfrm>
            <a:off x="8731250" y="3276600"/>
            <a:ext cx="2565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3D8FF"/>
                </a:solidFill>
              </a:defRPr>
            </a:pPr>
            <a:r>
              <a:rPr sz="1200" b="1">
                <a:solidFill>
                  <a:srgbClr val="73D8FF"/>
                </a:solidFill>
              </a:rPr>
              <a:t>Review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0E5FC56-D3BA-4DB5-9CFC-5F3C8FE58779}"/>
              </a:ext>
            </a:extLst>
          </p:cNvPr>
          <p:cNvSpPr>
            <a:spLocks noGrp="1"/>
          </p:cNvSpPr>
          <p:nvPr/>
        </p:nvSpPr>
        <p:spPr>
          <a:xfrm>
            <a:off x="8216900" y="3867150"/>
            <a:ext cx="30988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Ask doubts, check updates,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and improve one weak area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every week.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4FFAEE6-F755-49FB-AD18-75EC606B796F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820400" cy="381000"/>
          </a:xfrm>
          <a:prstGeom prst="roundRect">
            <a:avLst>
              <a:gd name="adj" fmla="val 20000"/>
            </a:avLst>
          </a:prstGeom>
          <a:solidFill>
            <a:srgbClr val="0A1824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2C37E01-BC46-4440-98EC-C5C785346953}"/>
              </a:ext>
            </a:extLst>
          </p:cNvPr>
          <p:cNvSpPr>
            <a:spLocks noGrp="1"/>
          </p:cNvSpPr>
          <p:nvPr/>
        </p:nvSpPr>
        <p:spPr>
          <a:xfrm>
            <a:off x="857250" y="5734050"/>
            <a:ext cx="10477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C7D8E8"/>
                </a:solidFill>
              </a:defRPr>
            </a:pPr>
            <a:r>
              <a:rPr sz="825" b="0">
                <a:solidFill>
                  <a:srgbClr val="C7D8E8"/>
                </a:solidFill>
              </a:rPr>
              <a:t>Start small, stay regular, and use DCAM as your study partner.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0E48E2F-7846-4791-B56C-1D93B624F22D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905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dcamclasses.in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BEB02BD-F48C-4EA7-8D80-20AC02C6F33A}"/>
              </a:ext>
            </a:extLst>
          </p:cNvPr>
          <p:cNvSpPr>
            <a:spLocks noGrp="1"/>
          </p:cNvSpPr>
          <p:nvPr/>
        </p:nvSpPr>
        <p:spPr>
          <a:xfrm>
            <a:off x="9525000" y="6286500"/>
            <a:ext cx="1981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Student Seminar Guide</a:t>
            </a:r>
          </a:p>
        </p:txBody>
      </p:sp>
    </p:spTree>
    <p:extLst>
      <p:ext uri="{BB962C8B-B14F-4D97-AF65-F5344CB8AC3E}">
        <p14:creationId xmlns:p14="http://schemas.microsoft.com/office/powerpoint/2010/main" val="32499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0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101B"/>
          </a:solidFill>
          <a:ln>
            <a:noFill/>
          </a:ln>
        </p:spPr>
      </p:sp>
      <p:sp>
        <p:nvSpPr>
          <p:cNvPr id="3" name="oval-left"/>
          <p:cNvSpPr/>
          <p:nvPr/>
        </p:nvSpPr>
        <p:spPr>
          <a:xfrm>
            <a:off x="-1333500" y="-1143000"/>
            <a:ext cx="4000500" cy="4000500"/>
          </a:xfrm>
          <a:prstGeom prst="ellipse">
            <a:avLst/>
          </a:prstGeom>
          <a:solidFill>
            <a:srgbClr val="0C2C44"/>
          </a:solidFill>
          <a:ln>
            <a:noFill/>
          </a:ln>
        </p:spPr>
      </p:sp>
      <p:sp>
        <p:nvSpPr>
          <p:cNvPr id="4" name="oval-top"/>
          <p:cNvSpPr/>
          <p:nvPr/>
        </p:nvSpPr>
        <p:spPr>
          <a:xfrm>
            <a:off x="8572500" y="-1143000"/>
            <a:ext cx="3429000" cy="3429000"/>
          </a:xfrm>
          <a:prstGeom prst="ellipse">
            <a:avLst/>
          </a:prstGeom>
          <a:solidFill>
            <a:srgbClr val="0E2C4A"/>
          </a:solidFill>
          <a:ln>
            <a:noFill/>
          </a:ln>
        </p:spPr>
      </p:sp>
      <p:sp>
        <p:nvSpPr>
          <p:cNvPr id="5" name="oval-bottom"/>
          <p:cNvSpPr/>
          <p:nvPr/>
        </p:nvSpPr>
        <p:spPr>
          <a:xfrm>
            <a:off x="8382000" y="4095750"/>
            <a:ext cx="4762500" cy="4762500"/>
          </a:xfrm>
          <a:prstGeom prst="ellipse">
            <a:avLst/>
          </a:prstGeom>
          <a:solidFill>
            <a:srgbClr val="0A2032"/>
          </a:solidFill>
          <a:ln>
            <a:noFill/>
          </a:ln>
        </p:spPr>
      </p:sp>
      <p:sp>
        <p:nvSpPr>
          <p:cNvPr id="6" name="overlay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111B"/>
          </a:solidFill>
          <a:ln>
            <a:noFill/>
          </a:ln>
        </p:spPr>
      </p:sp>
      <p:sp>
        <p:nvSpPr>
          <p:cNvPr id="7" name="top-rule"/>
          <p:cNvSpPr/>
          <p:nvPr/>
        </p:nvSpPr>
        <p:spPr>
          <a:xfrm>
            <a:off x="685800" y="552450"/>
            <a:ext cx="1809750" cy="47625"/>
          </a:xfrm>
          <a:prstGeom prst="rect">
            <a:avLst/>
          </a:prstGeom>
          <a:solidFill>
            <a:srgbClr val="73D8FF"/>
          </a:solidFill>
          <a:ln>
            <a:noFill/>
          </a:ln>
        </p:spPr>
      </p:sp>
      <p:sp>
        <p:nvSpPr>
          <p:cNvPr id="8" name="bottom-rule"/>
          <p:cNvSpPr/>
          <p:nvPr/>
        </p:nvSpPr>
        <p:spPr>
          <a:xfrm>
            <a:off x="685800" y="6191250"/>
            <a:ext cx="10820400" cy="9525"/>
          </a:xfrm>
          <a:prstGeom prst="rect">
            <a:avLst/>
          </a:prstGeom>
          <a:solidFill>
            <a:srgbClr val="1A3650"/>
          </a:solidFill>
          <a:ln>
            <a:noFill/>
          </a:ln>
        </p:spPr>
      </p:sp>
      <p:sp>
        <p:nvSpPr>
          <p:cNvPr id="9" name="slide-number"/>
          <p:cNvSpPr/>
          <p:nvPr/>
        </p:nvSpPr>
        <p:spPr>
          <a:xfrm>
            <a:off x="10287000" y="266700"/>
            <a:ext cx="1219200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950" b="1">
                <a:solidFill>
                  <a:srgbClr val="EAF7FF"/>
                </a:solidFill>
                <a:latin typeface="Aptos"/>
              </a:defRPr>
            </a:pPr>
            <a:r>
              <a:rPr sz="950" b="1">
                <a:solidFill>
                  <a:srgbClr val="EAF7FF"/>
                </a:solidFill>
                <a:latin typeface="Aptos"/>
              </a:rPr>
              <a:t>02 / 12</a:t>
            </a:r>
          </a:p>
        </p:txBody>
      </p:sp>
      <p:sp>
        <p:nvSpPr>
          <p:cNvPr id="10" name="logo-frame"/>
          <p:cNvSpPr/>
          <p:nvPr/>
        </p:nvSpPr>
        <p:spPr>
          <a:xfrm>
            <a:off x="10306050" y="590550"/>
            <a:ext cx="990600" cy="990600"/>
          </a:xfrm>
          <a:prstGeom prst="roundRect">
            <a:avLst>
              <a:gd name="adj" fmla="val 8000"/>
            </a:avLst>
          </a:prstGeom>
          <a:solidFill>
            <a:srgbClr val="0D2032"/>
          </a:solidFill>
          <a:ln w="9525">
            <a:solidFill>
              <a:srgbClr val="1A3650"/>
            </a:solidFill>
            <a:prstDash val="solid"/>
          </a:ln>
        </p:spPr>
      </p:sp>
      <p:pic>
        <p:nvPicPr>
          <p:cNvPr id="11" name="DCAM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0" y="714375"/>
            <a:ext cx="800100" cy="733425"/>
          </a:xfrm>
          <a:prstGeom prst="rect">
            <a:avLst/>
          </a:prstGeom>
        </p:spPr>
      </p:pic>
      <p:sp>
        <p:nvSpPr>
          <p:cNvPr id="12" name="site"/>
          <p:cNvSpPr/>
          <p:nvPr/>
        </p:nvSpPr>
        <p:spPr>
          <a:xfrm>
            <a:off x="685800" y="6286500"/>
            <a:ext cx="1905000" cy="1333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800" b="0">
                <a:solidFill>
                  <a:srgbClr val="8AA6B8"/>
                </a:solidFill>
                <a:latin typeface="Aptos"/>
              </a:defRPr>
            </a:pPr>
            <a:r>
              <a:rPr sz="800" b="0">
                <a:solidFill>
                  <a:srgbClr val="8AA6B8"/>
                </a:solidFill>
                <a:latin typeface="Aptos"/>
              </a:rPr>
              <a:t>dcamclasses.in</a:t>
            </a:r>
          </a:p>
        </p:txBody>
      </p:sp>
      <p:sp>
        <p:nvSpPr>
          <p:cNvPr id="13" name="footer"/>
          <p:cNvSpPr/>
          <p:nvPr/>
        </p:nvSpPr>
        <p:spPr>
          <a:xfrm>
            <a:off x="9334500" y="6286500"/>
            <a:ext cx="2171700" cy="1333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800" b="0">
                <a:solidFill>
                  <a:srgbClr val="8AA6B8"/>
                </a:solidFill>
                <a:latin typeface="Aptos"/>
              </a:defRPr>
            </a:pPr>
            <a:r>
              <a:rPr sz="800" b="0">
                <a:solidFill>
                  <a:srgbClr val="8AA6B8"/>
                </a:solidFill>
                <a:latin typeface="Aptos"/>
              </a:rPr>
              <a:t>Student Seminar Guide</a:t>
            </a:r>
          </a:p>
        </p:txBody>
      </p:sp>
      <p:sp>
        <p:nvSpPr>
          <p:cNvPr id="14" name="eyebrow"/>
          <p:cNvSpPr/>
          <p:nvPr/>
        </p:nvSpPr>
        <p:spPr>
          <a:xfrm>
            <a:off x="685800" y="266700"/>
            <a:ext cx="4000500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950" b="1">
                <a:solidFill>
                  <a:srgbClr val="73D8FF"/>
                </a:solidFill>
                <a:latin typeface="Aptos"/>
              </a:defRPr>
            </a:pPr>
            <a:r>
              <a:rPr sz="950" b="1">
                <a:solidFill>
                  <a:srgbClr val="73D8FF"/>
                </a:solidFill>
                <a:latin typeface="Aptos"/>
              </a:rPr>
              <a:t>ENTRANCE EXAM MAP</a:t>
            </a:r>
          </a:p>
        </p:txBody>
      </p:sp>
      <p:sp>
        <p:nvSpPr>
          <p:cNvPr id="15" name="title"/>
          <p:cNvSpPr/>
          <p:nvPr/>
        </p:nvSpPr>
        <p:spPr>
          <a:xfrm>
            <a:off x="781050" y="1066800"/>
            <a:ext cx="7239000" cy="7810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900" b="1">
                <a:solidFill>
                  <a:srgbClr val="F4FAFF"/>
                </a:solidFill>
                <a:latin typeface="Aptos"/>
              </a:defRPr>
            </a:pPr>
            <a:r>
              <a:rPr sz="2900" b="1">
                <a:solidFill>
                  <a:srgbClr val="F4FAFF"/>
                </a:solidFill>
                <a:latin typeface="Aptos"/>
              </a:rPr>
              <a:t>Entrance Exams You</a:t>
            </a:r>
          </a:p>
          <a:p>
            <a:pPr algn="l">
              <a:defRPr sz="2900" b="1">
                <a:solidFill>
                  <a:srgbClr val="F4FAFF"/>
                </a:solidFill>
                <a:latin typeface="Aptos"/>
              </a:defRPr>
            </a:pPr>
            <a:r>
              <a:rPr sz="2900" b="1">
                <a:solidFill>
                  <a:srgbClr val="F4FAFF"/>
                </a:solidFill>
                <a:latin typeface="Aptos"/>
              </a:rPr>
              <a:t>Should Know</a:t>
            </a:r>
          </a:p>
        </p:txBody>
      </p:sp>
      <p:sp>
        <p:nvSpPr>
          <p:cNvPr id="16" name="subtitle"/>
          <p:cNvSpPr/>
          <p:nvPr/>
        </p:nvSpPr>
        <p:spPr>
          <a:xfrm>
            <a:off x="781050" y="2171700"/>
            <a:ext cx="7905750" cy="361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400" b="0">
                <a:solidFill>
                  <a:srgbClr val="C8D8E4"/>
                </a:solidFill>
                <a:latin typeface="Aptos"/>
              </a:defRPr>
            </a:pPr>
            <a:r>
              <a:rPr sz="1400" b="0">
                <a:solidFill>
                  <a:srgbClr val="C8D8E4"/>
                </a:solidFill>
                <a:latin typeface="Aptos"/>
              </a:rPr>
              <a:t>We will learn the names, purpose, and preparation focus for the most important exams after Class 12.</a:t>
            </a:r>
          </a:p>
        </p:txBody>
      </p:sp>
      <p:sp>
        <p:nvSpPr>
          <p:cNvPr id="17" name="National Engineering"/>
          <p:cNvSpPr/>
          <p:nvPr/>
        </p:nvSpPr>
        <p:spPr>
          <a:xfrm>
            <a:off x="685800" y="2819400"/>
            <a:ext cx="5105400" cy="1352550"/>
          </a:xfrm>
          <a:prstGeom prst="roundRect">
            <a:avLst>
              <a:gd name="adj" fmla="val 8000"/>
            </a:avLst>
          </a:prstGeom>
          <a:solidFill>
            <a:srgbClr val="0C1D2E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18" name="accent"/>
          <p:cNvSpPr/>
          <p:nvPr/>
        </p:nvSpPr>
        <p:spPr>
          <a:xfrm>
            <a:off x="685800" y="2819400"/>
            <a:ext cx="5105400" cy="47625"/>
          </a:xfrm>
          <a:prstGeom prst="rect">
            <a:avLst/>
          </a:prstGeom>
          <a:solidFill>
            <a:srgbClr val="73D8FF"/>
          </a:solidFill>
          <a:ln>
            <a:noFill/>
          </a:ln>
        </p:spPr>
      </p:sp>
      <p:sp>
        <p:nvSpPr>
          <p:cNvPr id="19" name="group-label"/>
          <p:cNvSpPr/>
          <p:nvPr/>
        </p:nvSpPr>
        <p:spPr>
          <a:xfrm>
            <a:off x="914400" y="3028950"/>
            <a:ext cx="46482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600" b="1">
                <a:solidFill>
                  <a:srgbClr val="73D8FF"/>
                </a:solidFill>
                <a:latin typeface="Aptos"/>
              </a:defRPr>
            </a:pPr>
            <a:r>
              <a:rPr sz="1600" b="1">
                <a:solidFill>
                  <a:srgbClr val="73D8FF"/>
                </a:solidFill>
                <a:latin typeface="Aptos"/>
              </a:rPr>
              <a:t>National Engineering</a:t>
            </a:r>
          </a:p>
        </p:txBody>
      </p:sp>
      <p:sp>
        <p:nvSpPr>
          <p:cNvPr id="20" name="exam-chip"/>
          <p:cNvSpPr/>
          <p:nvPr/>
        </p:nvSpPr>
        <p:spPr>
          <a:xfrm>
            <a:off x="914400" y="3409950"/>
            <a:ext cx="1466850" cy="304800"/>
          </a:xfrm>
          <a:prstGeom prst="roundRect">
            <a:avLst>
              <a:gd name="adj" fmla="val 8000"/>
            </a:avLst>
          </a:prstGeom>
          <a:solidFill>
            <a:srgbClr val="0A1824"/>
          </a:solidFill>
          <a:ln w="9525">
            <a:solidFill>
              <a:srgbClr val="24445E"/>
            </a:solidFill>
            <a:prstDash val="solid"/>
          </a:ln>
        </p:spPr>
      </p:sp>
      <p:sp>
        <p:nvSpPr>
          <p:cNvPr id="21" name="exam-name"/>
          <p:cNvSpPr/>
          <p:nvPr/>
        </p:nvSpPr>
        <p:spPr>
          <a:xfrm>
            <a:off x="1009650" y="3467100"/>
            <a:ext cx="127635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4FAFF"/>
                </a:solidFill>
                <a:latin typeface="Aptos"/>
              </a:defRPr>
            </a:pPr>
            <a:r>
              <a:rPr sz="1350" b="1">
                <a:solidFill>
                  <a:srgbClr val="F4FAFF"/>
                </a:solidFill>
                <a:latin typeface="Aptos"/>
              </a:rPr>
              <a:t>JEE Main</a:t>
            </a:r>
          </a:p>
        </p:txBody>
      </p:sp>
      <p:sp>
        <p:nvSpPr>
          <p:cNvPr id="22" name="exam-chip"/>
          <p:cNvSpPr/>
          <p:nvPr/>
        </p:nvSpPr>
        <p:spPr>
          <a:xfrm>
            <a:off x="2495550" y="3409950"/>
            <a:ext cx="1466850" cy="304800"/>
          </a:xfrm>
          <a:prstGeom prst="roundRect">
            <a:avLst>
              <a:gd name="adj" fmla="val 8000"/>
            </a:avLst>
          </a:prstGeom>
          <a:solidFill>
            <a:srgbClr val="0A1824"/>
          </a:solidFill>
          <a:ln w="9525">
            <a:solidFill>
              <a:srgbClr val="24445E"/>
            </a:solidFill>
            <a:prstDash val="solid"/>
          </a:ln>
        </p:spPr>
      </p:sp>
      <p:sp>
        <p:nvSpPr>
          <p:cNvPr id="23" name="exam-name"/>
          <p:cNvSpPr/>
          <p:nvPr/>
        </p:nvSpPr>
        <p:spPr>
          <a:xfrm>
            <a:off x="2590800" y="3467100"/>
            <a:ext cx="127635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4FAFF"/>
                </a:solidFill>
                <a:latin typeface="Aptos"/>
              </a:defRPr>
            </a:pPr>
            <a:r>
              <a:rPr sz="1350" b="1">
                <a:solidFill>
                  <a:srgbClr val="F4FAFF"/>
                </a:solidFill>
                <a:latin typeface="Aptos"/>
              </a:rPr>
              <a:t>JEE Advanced</a:t>
            </a:r>
          </a:p>
        </p:txBody>
      </p:sp>
      <p:sp>
        <p:nvSpPr>
          <p:cNvPr id="24" name="exam-chip"/>
          <p:cNvSpPr/>
          <p:nvPr/>
        </p:nvSpPr>
        <p:spPr>
          <a:xfrm>
            <a:off x="4076700" y="3409950"/>
            <a:ext cx="1466850" cy="304800"/>
          </a:xfrm>
          <a:prstGeom prst="roundRect">
            <a:avLst>
              <a:gd name="adj" fmla="val 8000"/>
            </a:avLst>
          </a:prstGeom>
          <a:solidFill>
            <a:srgbClr val="0A1824"/>
          </a:solidFill>
          <a:ln w="9525">
            <a:solidFill>
              <a:srgbClr val="24445E"/>
            </a:solidFill>
            <a:prstDash val="solid"/>
          </a:ln>
        </p:spPr>
      </p:sp>
      <p:sp>
        <p:nvSpPr>
          <p:cNvPr id="25" name="exam-name"/>
          <p:cNvSpPr/>
          <p:nvPr/>
        </p:nvSpPr>
        <p:spPr>
          <a:xfrm>
            <a:off x="4171950" y="3467100"/>
            <a:ext cx="127635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4FAFF"/>
                </a:solidFill>
                <a:latin typeface="Aptos"/>
              </a:defRPr>
            </a:pPr>
            <a:r>
              <a:rPr sz="1350" b="1">
                <a:solidFill>
                  <a:srgbClr val="F4FAFF"/>
                </a:solidFill>
                <a:latin typeface="Aptos"/>
              </a:rPr>
              <a:t>BITSAT</a:t>
            </a:r>
          </a:p>
        </p:txBody>
      </p:sp>
      <p:sp>
        <p:nvSpPr>
          <p:cNvPr id="26" name="University Engineering"/>
          <p:cNvSpPr/>
          <p:nvPr/>
        </p:nvSpPr>
        <p:spPr>
          <a:xfrm>
            <a:off x="6400800" y="2819400"/>
            <a:ext cx="5105400" cy="1352550"/>
          </a:xfrm>
          <a:prstGeom prst="roundRect">
            <a:avLst>
              <a:gd name="adj" fmla="val 8000"/>
            </a:avLst>
          </a:prstGeom>
          <a:solidFill>
            <a:srgbClr val="0C1D2E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7" name="accent"/>
          <p:cNvSpPr/>
          <p:nvPr/>
        </p:nvSpPr>
        <p:spPr>
          <a:xfrm>
            <a:off x="6400800" y="2819400"/>
            <a:ext cx="5105400" cy="47625"/>
          </a:xfrm>
          <a:prstGeom prst="rect">
            <a:avLst/>
          </a:prstGeom>
          <a:solidFill>
            <a:srgbClr val="4CB6FF"/>
          </a:solidFill>
          <a:ln>
            <a:noFill/>
          </a:ln>
        </p:spPr>
      </p:sp>
      <p:sp>
        <p:nvSpPr>
          <p:cNvPr id="28" name="group-label"/>
          <p:cNvSpPr/>
          <p:nvPr/>
        </p:nvSpPr>
        <p:spPr>
          <a:xfrm>
            <a:off x="6629400" y="3028950"/>
            <a:ext cx="46482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600" b="1">
                <a:solidFill>
                  <a:srgbClr val="73D8FF"/>
                </a:solidFill>
                <a:latin typeface="Aptos"/>
              </a:defRPr>
            </a:pPr>
            <a:r>
              <a:rPr sz="1600" b="1">
                <a:solidFill>
                  <a:srgbClr val="73D8FF"/>
                </a:solidFill>
                <a:latin typeface="Aptos"/>
              </a:rPr>
              <a:t>University Engineering</a:t>
            </a:r>
          </a:p>
        </p:txBody>
      </p:sp>
      <p:sp>
        <p:nvSpPr>
          <p:cNvPr id="29" name="exam-chip"/>
          <p:cNvSpPr/>
          <p:nvPr/>
        </p:nvSpPr>
        <p:spPr>
          <a:xfrm>
            <a:off x="6629400" y="3409950"/>
            <a:ext cx="2266950" cy="304800"/>
          </a:xfrm>
          <a:prstGeom prst="roundRect">
            <a:avLst>
              <a:gd name="adj" fmla="val 8000"/>
            </a:avLst>
          </a:prstGeom>
          <a:solidFill>
            <a:srgbClr val="0A1824"/>
          </a:solidFill>
          <a:ln w="9525">
            <a:solidFill>
              <a:srgbClr val="24445E"/>
            </a:solidFill>
            <a:prstDash val="solid"/>
          </a:ln>
        </p:spPr>
      </p:sp>
      <p:sp>
        <p:nvSpPr>
          <p:cNvPr id="30" name="exam-name"/>
          <p:cNvSpPr/>
          <p:nvPr/>
        </p:nvSpPr>
        <p:spPr>
          <a:xfrm>
            <a:off x="6724650" y="3467100"/>
            <a:ext cx="207645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4FAFF"/>
                </a:solidFill>
                <a:latin typeface="Aptos"/>
              </a:defRPr>
            </a:pPr>
            <a:r>
              <a:rPr sz="1350" b="1">
                <a:solidFill>
                  <a:srgbClr val="F4FAFF"/>
                </a:solidFill>
                <a:latin typeface="Aptos"/>
              </a:rPr>
              <a:t>VITEEE</a:t>
            </a:r>
          </a:p>
        </p:txBody>
      </p:sp>
      <p:sp>
        <p:nvSpPr>
          <p:cNvPr id="31" name="exam-chip"/>
          <p:cNvSpPr/>
          <p:nvPr/>
        </p:nvSpPr>
        <p:spPr>
          <a:xfrm>
            <a:off x="9010650" y="3409950"/>
            <a:ext cx="2266950" cy="304800"/>
          </a:xfrm>
          <a:prstGeom prst="roundRect">
            <a:avLst>
              <a:gd name="adj" fmla="val 8000"/>
            </a:avLst>
          </a:prstGeom>
          <a:solidFill>
            <a:srgbClr val="0A1824"/>
          </a:solidFill>
          <a:ln w="9525">
            <a:solidFill>
              <a:srgbClr val="24445E"/>
            </a:solidFill>
            <a:prstDash val="solid"/>
          </a:ln>
        </p:spPr>
      </p:sp>
      <p:sp>
        <p:nvSpPr>
          <p:cNvPr id="32" name="exam-name"/>
          <p:cNvSpPr/>
          <p:nvPr/>
        </p:nvSpPr>
        <p:spPr>
          <a:xfrm>
            <a:off x="9105900" y="3467100"/>
            <a:ext cx="207645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4FAFF"/>
                </a:solidFill>
                <a:latin typeface="Aptos"/>
              </a:defRPr>
            </a:pPr>
            <a:r>
              <a:rPr sz="1350" b="1">
                <a:solidFill>
                  <a:srgbClr val="F4FAFF"/>
                </a:solidFill>
                <a:latin typeface="Aptos"/>
              </a:rPr>
              <a:t>SRMJEEE</a:t>
            </a:r>
          </a:p>
        </p:txBody>
      </p:sp>
      <p:sp>
        <p:nvSpPr>
          <p:cNvPr id="33" name="exam-chip"/>
          <p:cNvSpPr/>
          <p:nvPr/>
        </p:nvSpPr>
        <p:spPr>
          <a:xfrm>
            <a:off x="6629400" y="3810000"/>
            <a:ext cx="2266950" cy="304800"/>
          </a:xfrm>
          <a:prstGeom prst="roundRect">
            <a:avLst>
              <a:gd name="adj" fmla="val 8000"/>
            </a:avLst>
          </a:prstGeom>
          <a:solidFill>
            <a:srgbClr val="0A1824"/>
          </a:solidFill>
          <a:ln w="9525">
            <a:solidFill>
              <a:srgbClr val="24445E"/>
            </a:solidFill>
            <a:prstDash val="solid"/>
          </a:ln>
        </p:spPr>
      </p:sp>
      <p:sp>
        <p:nvSpPr>
          <p:cNvPr id="34" name="exam-name"/>
          <p:cNvSpPr/>
          <p:nvPr/>
        </p:nvSpPr>
        <p:spPr>
          <a:xfrm>
            <a:off x="6724650" y="3867150"/>
            <a:ext cx="207645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4FAFF"/>
                </a:solidFill>
                <a:latin typeface="Aptos"/>
              </a:defRPr>
            </a:pPr>
            <a:r>
              <a:rPr sz="1350" b="1">
                <a:solidFill>
                  <a:srgbClr val="F4FAFF"/>
                </a:solidFill>
                <a:latin typeface="Aptos"/>
              </a:rPr>
              <a:t>MET</a:t>
            </a:r>
          </a:p>
        </p:txBody>
      </p:sp>
      <p:sp>
        <p:nvSpPr>
          <p:cNvPr id="35" name="exam-chip"/>
          <p:cNvSpPr/>
          <p:nvPr/>
        </p:nvSpPr>
        <p:spPr>
          <a:xfrm>
            <a:off x="9010650" y="3810000"/>
            <a:ext cx="2266950" cy="304800"/>
          </a:xfrm>
          <a:prstGeom prst="roundRect">
            <a:avLst>
              <a:gd name="adj" fmla="val 8000"/>
            </a:avLst>
          </a:prstGeom>
          <a:solidFill>
            <a:srgbClr val="0A1824"/>
          </a:solidFill>
          <a:ln w="9525">
            <a:solidFill>
              <a:srgbClr val="24445E"/>
            </a:solidFill>
            <a:prstDash val="solid"/>
          </a:ln>
        </p:spPr>
      </p:sp>
      <p:sp>
        <p:nvSpPr>
          <p:cNvPr id="36" name="exam-name"/>
          <p:cNvSpPr/>
          <p:nvPr/>
        </p:nvSpPr>
        <p:spPr>
          <a:xfrm>
            <a:off x="9105900" y="3867150"/>
            <a:ext cx="207645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4FAFF"/>
                </a:solidFill>
                <a:latin typeface="Aptos"/>
              </a:defRPr>
            </a:pPr>
            <a:r>
              <a:rPr sz="1350" b="1">
                <a:solidFill>
                  <a:srgbClr val="F4FAFF"/>
                </a:solidFill>
                <a:latin typeface="Aptos"/>
              </a:rPr>
              <a:t>KIITEE</a:t>
            </a:r>
          </a:p>
        </p:txBody>
      </p:sp>
      <p:sp>
        <p:nvSpPr>
          <p:cNvPr id="37" name="State &amp; CET Exams"/>
          <p:cNvSpPr/>
          <p:nvPr/>
        </p:nvSpPr>
        <p:spPr>
          <a:xfrm>
            <a:off x="685800" y="4343400"/>
            <a:ext cx="5105400" cy="1352550"/>
          </a:xfrm>
          <a:prstGeom prst="roundRect">
            <a:avLst>
              <a:gd name="adj" fmla="val 8000"/>
            </a:avLst>
          </a:prstGeom>
          <a:solidFill>
            <a:srgbClr val="0C1D2E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38" name="accent"/>
          <p:cNvSpPr/>
          <p:nvPr/>
        </p:nvSpPr>
        <p:spPr>
          <a:xfrm>
            <a:off x="685800" y="4343400"/>
            <a:ext cx="5105400" cy="47625"/>
          </a:xfrm>
          <a:prstGeom prst="rect">
            <a:avLst/>
          </a:prstGeom>
          <a:solidFill>
            <a:srgbClr val="2F6CFF"/>
          </a:solidFill>
          <a:ln>
            <a:noFill/>
          </a:ln>
        </p:spPr>
      </p:sp>
      <p:sp>
        <p:nvSpPr>
          <p:cNvPr id="39" name="group-label"/>
          <p:cNvSpPr/>
          <p:nvPr/>
        </p:nvSpPr>
        <p:spPr>
          <a:xfrm>
            <a:off x="914400" y="4552950"/>
            <a:ext cx="46482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600" b="1">
                <a:solidFill>
                  <a:srgbClr val="73D8FF"/>
                </a:solidFill>
                <a:latin typeface="Aptos"/>
              </a:defRPr>
            </a:pPr>
            <a:r>
              <a:rPr sz="1600" b="1">
                <a:solidFill>
                  <a:srgbClr val="73D8FF"/>
                </a:solidFill>
                <a:latin typeface="Aptos"/>
              </a:rPr>
              <a:t>State &amp; CET Exams</a:t>
            </a:r>
          </a:p>
        </p:txBody>
      </p:sp>
      <p:sp>
        <p:nvSpPr>
          <p:cNvPr id="40" name="exam-chip"/>
          <p:cNvSpPr/>
          <p:nvPr/>
        </p:nvSpPr>
        <p:spPr>
          <a:xfrm>
            <a:off x="914400" y="4933950"/>
            <a:ext cx="1466850" cy="304800"/>
          </a:xfrm>
          <a:prstGeom prst="roundRect">
            <a:avLst>
              <a:gd name="adj" fmla="val 8000"/>
            </a:avLst>
          </a:prstGeom>
          <a:solidFill>
            <a:srgbClr val="0A1824"/>
          </a:solidFill>
          <a:ln w="9525">
            <a:solidFill>
              <a:srgbClr val="24445E"/>
            </a:solidFill>
            <a:prstDash val="solid"/>
          </a:ln>
        </p:spPr>
      </p:sp>
      <p:sp>
        <p:nvSpPr>
          <p:cNvPr id="41" name="exam-name"/>
          <p:cNvSpPr/>
          <p:nvPr/>
        </p:nvSpPr>
        <p:spPr>
          <a:xfrm>
            <a:off x="1009650" y="4991100"/>
            <a:ext cx="127635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4FAFF"/>
                </a:solidFill>
                <a:latin typeface="Aptos"/>
              </a:defRPr>
            </a:pPr>
            <a:r>
              <a:rPr sz="1350" b="1">
                <a:solidFill>
                  <a:srgbClr val="F4FAFF"/>
                </a:solidFill>
                <a:latin typeface="Aptos"/>
              </a:rPr>
              <a:t>WBJEE</a:t>
            </a:r>
          </a:p>
        </p:txBody>
      </p:sp>
      <p:sp>
        <p:nvSpPr>
          <p:cNvPr id="42" name="exam-chip"/>
          <p:cNvSpPr/>
          <p:nvPr/>
        </p:nvSpPr>
        <p:spPr>
          <a:xfrm>
            <a:off x="2495550" y="4933950"/>
            <a:ext cx="1466850" cy="304800"/>
          </a:xfrm>
          <a:prstGeom prst="roundRect">
            <a:avLst>
              <a:gd name="adj" fmla="val 8000"/>
            </a:avLst>
          </a:prstGeom>
          <a:solidFill>
            <a:srgbClr val="0A1824"/>
          </a:solidFill>
          <a:ln w="9525">
            <a:solidFill>
              <a:srgbClr val="24445E"/>
            </a:solidFill>
            <a:prstDash val="solid"/>
          </a:ln>
        </p:spPr>
      </p:sp>
      <p:sp>
        <p:nvSpPr>
          <p:cNvPr id="43" name="exam-name"/>
          <p:cNvSpPr/>
          <p:nvPr/>
        </p:nvSpPr>
        <p:spPr>
          <a:xfrm>
            <a:off x="2590800" y="4991100"/>
            <a:ext cx="127635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4FAFF"/>
                </a:solidFill>
                <a:latin typeface="Aptos"/>
              </a:defRPr>
            </a:pPr>
            <a:r>
              <a:rPr sz="1350" b="1">
                <a:solidFill>
                  <a:srgbClr val="F4FAFF"/>
                </a:solidFill>
                <a:latin typeface="Aptos"/>
              </a:rPr>
              <a:t>MHT CET</a:t>
            </a:r>
          </a:p>
        </p:txBody>
      </p:sp>
      <p:sp>
        <p:nvSpPr>
          <p:cNvPr id="44" name="exam-chip"/>
          <p:cNvSpPr/>
          <p:nvPr/>
        </p:nvSpPr>
        <p:spPr>
          <a:xfrm>
            <a:off x="4076700" y="4933950"/>
            <a:ext cx="1466850" cy="304800"/>
          </a:xfrm>
          <a:prstGeom prst="roundRect">
            <a:avLst>
              <a:gd name="adj" fmla="val 8000"/>
            </a:avLst>
          </a:prstGeom>
          <a:solidFill>
            <a:srgbClr val="0A1824"/>
          </a:solidFill>
          <a:ln w="9525">
            <a:solidFill>
              <a:srgbClr val="24445E"/>
            </a:solidFill>
            <a:prstDash val="solid"/>
          </a:ln>
        </p:spPr>
      </p:sp>
      <p:sp>
        <p:nvSpPr>
          <p:cNvPr id="45" name="exam-name"/>
          <p:cNvSpPr/>
          <p:nvPr/>
        </p:nvSpPr>
        <p:spPr>
          <a:xfrm>
            <a:off x="4171950" y="4991100"/>
            <a:ext cx="127635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4FAFF"/>
                </a:solidFill>
                <a:latin typeface="Aptos"/>
              </a:defRPr>
            </a:pPr>
            <a:r>
              <a:rPr sz="1350" b="1">
                <a:solidFill>
                  <a:srgbClr val="F4FAFF"/>
                </a:solidFill>
                <a:latin typeface="Aptos"/>
              </a:rPr>
              <a:t>KCET</a:t>
            </a:r>
          </a:p>
        </p:txBody>
      </p:sp>
      <p:sp>
        <p:nvSpPr>
          <p:cNvPr id="46" name="exam-chip"/>
          <p:cNvSpPr/>
          <p:nvPr/>
        </p:nvSpPr>
        <p:spPr>
          <a:xfrm>
            <a:off x="914400" y="5334000"/>
            <a:ext cx="1466850" cy="304800"/>
          </a:xfrm>
          <a:prstGeom prst="roundRect">
            <a:avLst>
              <a:gd name="adj" fmla="val 8000"/>
            </a:avLst>
          </a:prstGeom>
          <a:solidFill>
            <a:srgbClr val="0A1824"/>
          </a:solidFill>
          <a:ln w="9525">
            <a:solidFill>
              <a:srgbClr val="24445E"/>
            </a:solidFill>
            <a:prstDash val="solid"/>
          </a:ln>
        </p:spPr>
      </p:sp>
      <p:sp>
        <p:nvSpPr>
          <p:cNvPr id="47" name="exam-name"/>
          <p:cNvSpPr/>
          <p:nvPr/>
        </p:nvSpPr>
        <p:spPr>
          <a:xfrm>
            <a:off x="1009650" y="5391150"/>
            <a:ext cx="127635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4FAFF"/>
                </a:solidFill>
                <a:latin typeface="Aptos"/>
              </a:defRPr>
            </a:pPr>
            <a:r>
              <a:rPr sz="1350" b="1">
                <a:solidFill>
                  <a:srgbClr val="F4FAFF"/>
                </a:solidFill>
                <a:latin typeface="Aptos"/>
              </a:rPr>
              <a:t>COMEDK UGET</a:t>
            </a:r>
          </a:p>
        </p:txBody>
      </p:sp>
      <p:sp>
        <p:nvSpPr>
          <p:cNvPr id="48" name="exam-chip"/>
          <p:cNvSpPr/>
          <p:nvPr/>
        </p:nvSpPr>
        <p:spPr>
          <a:xfrm>
            <a:off x="2495550" y="5334000"/>
            <a:ext cx="1466850" cy="304800"/>
          </a:xfrm>
          <a:prstGeom prst="roundRect">
            <a:avLst>
              <a:gd name="adj" fmla="val 8000"/>
            </a:avLst>
          </a:prstGeom>
          <a:solidFill>
            <a:srgbClr val="0A1824"/>
          </a:solidFill>
          <a:ln w="9525">
            <a:solidFill>
              <a:srgbClr val="24445E"/>
            </a:solidFill>
            <a:prstDash val="solid"/>
          </a:ln>
        </p:spPr>
      </p:sp>
      <p:sp>
        <p:nvSpPr>
          <p:cNvPr id="49" name="exam-name"/>
          <p:cNvSpPr/>
          <p:nvPr/>
        </p:nvSpPr>
        <p:spPr>
          <a:xfrm>
            <a:off x="2590800" y="5391150"/>
            <a:ext cx="127635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4FAFF"/>
                </a:solidFill>
                <a:latin typeface="Aptos"/>
              </a:defRPr>
            </a:pPr>
            <a:r>
              <a:rPr sz="1350" b="1">
                <a:solidFill>
                  <a:srgbClr val="F4FAFF"/>
                </a:solidFill>
                <a:latin typeface="Aptos"/>
              </a:rPr>
              <a:t>AP EAPCET</a:t>
            </a:r>
          </a:p>
        </p:txBody>
      </p:sp>
      <p:sp>
        <p:nvSpPr>
          <p:cNvPr id="50" name="exam-chip"/>
          <p:cNvSpPr/>
          <p:nvPr/>
        </p:nvSpPr>
        <p:spPr>
          <a:xfrm>
            <a:off x="4076700" y="5334000"/>
            <a:ext cx="1466850" cy="304800"/>
          </a:xfrm>
          <a:prstGeom prst="roundRect">
            <a:avLst>
              <a:gd name="adj" fmla="val 8000"/>
            </a:avLst>
          </a:prstGeom>
          <a:solidFill>
            <a:srgbClr val="0A1824"/>
          </a:solidFill>
          <a:ln w="9525">
            <a:solidFill>
              <a:srgbClr val="24445E"/>
            </a:solidFill>
            <a:prstDash val="solid"/>
          </a:ln>
        </p:spPr>
      </p:sp>
      <p:sp>
        <p:nvSpPr>
          <p:cNvPr id="51" name="exam-name"/>
          <p:cNvSpPr/>
          <p:nvPr/>
        </p:nvSpPr>
        <p:spPr>
          <a:xfrm>
            <a:off x="4171950" y="5391150"/>
            <a:ext cx="127635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4FAFF"/>
                </a:solidFill>
                <a:latin typeface="Aptos"/>
              </a:defRPr>
            </a:pPr>
            <a:r>
              <a:rPr sz="1350" b="1">
                <a:solidFill>
                  <a:srgbClr val="F4FAFF"/>
                </a:solidFill>
                <a:latin typeface="Aptos"/>
              </a:rPr>
              <a:t>TS EAMCET</a:t>
            </a:r>
          </a:p>
        </p:txBody>
      </p:sp>
      <p:sp>
        <p:nvSpPr>
          <p:cNvPr id="52" name="Other Important Entrances"/>
          <p:cNvSpPr/>
          <p:nvPr/>
        </p:nvSpPr>
        <p:spPr>
          <a:xfrm>
            <a:off x="6400800" y="4343400"/>
            <a:ext cx="5105400" cy="1352550"/>
          </a:xfrm>
          <a:prstGeom prst="roundRect">
            <a:avLst>
              <a:gd name="adj" fmla="val 8000"/>
            </a:avLst>
          </a:prstGeom>
          <a:solidFill>
            <a:srgbClr val="0C1D2E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53" name="accent"/>
          <p:cNvSpPr/>
          <p:nvPr/>
        </p:nvSpPr>
        <p:spPr>
          <a:xfrm>
            <a:off x="6400800" y="4343400"/>
            <a:ext cx="5105400" cy="47625"/>
          </a:xfrm>
          <a:prstGeom prst="rect">
            <a:avLst/>
          </a:prstGeom>
          <a:solidFill>
            <a:srgbClr val="8DEBFF"/>
          </a:solidFill>
          <a:ln>
            <a:noFill/>
          </a:ln>
        </p:spPr>
      </p:sp>
      <p:sp>
        <p:nvSpPr>
          <p:cNvPr id="54" name="group-label"/>
          <p:cNvSpPr/>
          <p:nvPr/>
        </p:nvSpPr>
        <p:spPr>
          <a:xfrm>
            <a:off x="6629400" y="4552950"/>
            <a:ext cx="46482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600" b="1">
                <a:solidFill>
                  <a:srgbClr val="73D8FF"/>
                </a:solidFill>
                <a:latin typeface="Aptos"/>
              </a:defRPr>
            </a:pPr>
            <a:r>
              <a:rPr sz="1600" b="1">
                <a:solidFill>
                  <a:srgbClr val="73D8FF"/>
                </a:solidFill>
                <a:latin typeface="Aptos"/>
              </a:rPr>
              <a:t>Other Important Entrances</a:t>
            </a:r>
          </a:p>
        </p:txBody>
      </p:sp>
      <p:sp>
        <p:nvSpPr>
          <p:cNvPr id="55" name="exam-chip"/>
          <p:cNvSpPr/>
          <p:nvPr/>
        </p:nvSpPr>
        <p:spPr>
          <a:xfrm>
            <a:off x="6629400" y="4933950"/>
            <a:ext cx="2266950" cy="304800"/>
          </a:xfrm>
          <a:prstGeom prst="roundRect">
            <a:avLst>
              <a:gd name="adj" fmla="val 8000"/>
            </a:avLst>
          </a:prstGeom>
          <a:solidFill>
            <a:srgbClr val="0A1824"/>
          </a:solidFill>
          <a:ln w="9525">
            <a:solidFill>
              <a:srgbClr val="24445E"/>
            </a:solidFill>
            <a:prstDash val="solid"/>
          </a:ln>
        </p:spPr>
      </p:sp>
      <p:sp>
        <p:nvSpPr>
          <p:cNvPr id="56" name="exam-name"/>
          <p:cNvSpPr/>
          <p:nvPr/>
        </p:nvSpPr>
        <p:spPr>
          <a:xfrm>
            <a:off x="6724650" y="4991100"/>
            <a:ext cx="207645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4FAFF"/>
                </a:solidFill>
                <a:latin typeface="Aptos"/>
              </a:defRPr>
            </a:pPr>
            <a:r>
              <a:rPr sz="1350" b="1">
                <a:solidFill>
                  <a:srgbClr val="F4FAFF"/>
                </a:solidFill>
                <a:latin typeface="Aptos"/>
              </a:rPr>
              <a:t>CUET</a:t>
            </a:r>
          </a:p>
        </p:txBody>
      </p:sp>
      <p:sp>
        <p:nvSpPr>
          <p:cNvPr id="57" name="exam-chip"/>
          <p:cNvSpPr/>
          <p:nvPr/>
        </p:nvSpPr>
        <p:spPr>
          <a:xfrm>
            <a:off x="9010650" y="4933950"/>
            <a:ext cx="2266950" cy="304800"/>
          </a:xfrm>
          <a:prstGeom prst="roundRect">
            <a:avLst>
              <a:gd name="adj" fmla="val 8000"/>
            </a:avLst>
          </a:prstGeom>
          <a:solidFill>
            <a:srgbClr val="0A1824"/>
          </a:solidFill>
          <a:ln w="9525">
            <a:solidFill>
              <a:srgbClr val="24445E"/>
            </a:solidFill>
            <a:prstDash val="solid"/>
          </a:ln>
        </p:spPr>
      </p:sp>
      <p:sp>
        <p:nvSpPr>
          <p:cNvPr id="58" name="exam-name"/>
          <p:cNvSpPr/>
          <p:nvPr/>
        </p:nvSpPr>
        <p:spPr>
          <a:xfrm>
            <a:off x="9105900" y="4991100"/>
            <a:ext cx="207645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4FAFF"/>
                </a:solidFill>
                <a:latin typeface="Aptos"/>
              </a:defRPr>
            </a:pPr>
            <a:r>
              <a:rPr sz="1350" b="1">
                <a:solidFill>
                  <a:srgbClr val="F4FAFF"/>
                </a:solidFill>
                <a:latin typeface="Aptos"/>
              </a:rPr>
              <a:t>NEET</a:t>
            </a:r>
          </a:p>
        </p:txBody>
      </p:sp>
      <p:sp>
        <p:nvSpPr>
          <p:cNvPr id="59" name="exam-chip"/>
          <p:cNvSpPr/>
          <p:nvPr/>
        </p:nvSpPr>
        <p:spPr>
          <a:xfrm>
            <a:off x="6629400" y="5334000"/>
            <a:ext cx="4648200" cy="304800"/>
          </a:xfrm>
          <a:prstGeom prst="roundRect">
            <a:avLst>
              <a:gd name="adj" fmla="val 8000"/>
            </a:avLst>
          </a:prstGeom>
          <a:solidFill>
            <a:srgbClr val="0A1824"/>
          </a:solidFill>
          <a:ln w="9525">
            <a:solidFill>
              <a:srgbClr val="24445E"/>
            </a:solidFill>
            <a:prstDash val="solid"/>
          </a:ln>
        </p:spPr>
      </p:sp>
      <p:sp>
        <p:nvSpPr>
          <p:cNvPr id="60" name="exam-name"/>
          <p:cNvSpPr/>
          <p:nvPr/>
        </p:nvSpPr>
        <p:spPr>
          <a:xfrm>
            <a:off x="6724650" y="5391150"/>
            <a:ext cx="44577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defRPr sz="1150" b="1">
                <a:solidFill>
                  <a:srgbClr val="F4FAFF"/>
                </a:solidFill>
                <a:latin typeface="Aptos"/>
              </a:defRPr>
            </a:pPr>
            <a:r>
              <a:rPr sz="1150" b="1">
                <a:solidFill>
                  <a:srgbClr val="F4FAFF"/>
                </a:solidFill>
                <a:latin typeface="Aptos"/>
              </a:rPr>
              <a:t>Other Engineering Exams</a:t>
            </a:r>
          </a:p>
        </p:txBody>
      </p:sp>
      <p:sp>
        <p:nvSpPr>
          <p:cNvPr id="61" name="note-box"/>
          <p:cNvSpPr/>
          <p:nvPr/>
        </p:nvSpPr>
        <p:spPr>
          <a:xfrm>
            <a:off x="685800" y="5829300"/>
            <a:ext cx="10820400" cy="247650"/>
          </a:xfrm>
          <a:prstGeom prst="roundRect">
            <a:avLst>
              <a:gd name="adj" fmla="val 8000"/>
            </a:avLst>
          </a:prstGeom>
          <a:solidFill>
            <a:srgbClr val="0A1824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62" name="note"/>
          <p:cNvSpPr/>
          <p:nvPr/>
        </p:nvSpPr>
        <p:spPr>
          <a:xfrm>
            <a:off x="857250" y="5895975"/>
            <a:ext cx="10477500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830" b="0">
                <a:solidFill>
                  <a:srgbClr val="B8CAD7"/>
                </a:solidFill>
                <a:latin typeface="Aptos"/>
              </a:defRPr>
            </a:pPr>
            <a:r>
              <a:rPr sz="830" b="0">
                <a:solidFill>
                  <a:srgbClr val="B8CAD7"/>
                </a:solidFill>
                <a:latin typeface="Aptos"/>
              </a:rPr>
              <a:t>Know the exam list first. Then build the right routine for learning, practice, tests, and revision.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0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101B"/>
          </a:solidFill>
          <a:ln>
            <a:noFill/>
          </a:ln>
        </p:spPr>
      </p:sp>
      <p:sp>
        <p:nvSpPr>
          <p:cNvPr id="3" name="oval-left"/>
          <p:cNvSpPr/>
          <p:nvPr/>
        </p:nvSpPr>
        <p:spPr>
          <a:xfrm>
            <a:off x="-1333500" y="-1143000"/>
            <a:ext cx="4000500" cy="4000500"/>
          </a:xfrm>
          <a:prstGeom prst="ellipse">
            <a:avLst/>
          </a:prstGeom>
          <a:solidFill>
            <a:srgbClr val="0C2C44"/>
          </a:solidFill>
          <a:ln>
            <a:noFill/>
          </a:ln>
        </p:spPr>
      </p:sp>
      <p:sp>
        <p:nvSpPr>
          <p:cNvPr id="4" name="oval-top"/>
          <p:cNvSpPr/>
          <p:nvPr/>
        </p:nvSpPr>
        <p:spPr>
          <a:xfrm>
            <a:off x="8572500" y="-1143000"/>
            <a:ext cx="3429000" cy="3429000"/>
          </a:xfrm>
          <a:prstGeom prst="ellipse">
            <a:avLst/>
          </a:prstGeom>
          <a:solidFill>
            <a:srgbClr val="0E2C4A"/>
          </a:solidFill>
          <a:ln>
            <a:noFill/>
          </a:ln>
        </p:spPr>
      </p:sp>
      <p:sp>
        <p:nvSpPr>
          <p:cNvPr id="5" name="oval-bottom"/>
          <p:cNvSpPr/>
          <p:nvPr/>
        </p:nvSpPr>
        <p:spPr>
          <a:xfrm>
            <a:off x="8382000" y="4095750"/>
            <a:ext cx="4762500" cy="4762500"/>
          </a:xfrm>
          <a:prstGeom prst="ellipse">
            <a:avLst/>
          </a:prstGeom>
          <a:solidFill>
            <a:srgbClr val="0A2032"/>
          </a:solidFill>
          <a:ln>
            <a:noFill/>
          </a:ln>
        </p:spPr>
      </p:sp>
      <p:sp>
        <p:nvSpPr>
          <p:cNvPr id="6" name="overlay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111B"/>
          </a:solidFill>
          <a:ln>
            <a:noFill/>
          </a:ln>
        </p:spPr>
      </p:sp>
      <p:sp>
        <p:nvSpPr>
          <p:cNvPr id="7" name="top-rule"/>
          <p:cNvSpPr/>
          <p:nvPr/>
        </p:nvSpPr>
        <p:spPr>
          <a:xfrm>
            <a:off x="685800" y="552450"/>
            <a:ext cx="1809750" cy="47625"/>
          </a:xfrm>
          <a:prstGeom prst="rect">
            <a:avLst/>
          </a:prstGeom>
          <a:solidFill>
            <a:srgbClr val="73D8FF"/>
          </a:solidFill>
          <a:ln>
            <a:noFill/>
          </a:ln>
        </p:spPr>
      </p:sp>
      <p:sp>
        <p:nvSpPr>
          <p:cNvPr id="8" name="bottom-rule"/>
          <p:cNvSpPr/>
          <p:nvPr/>
        </p:nvSpPr>
        <p:spPr>
          <a:xfrm>
            <a:off x="685800" y="6191250"/>
            <a:ext cx="10820400" cy="9525"/>
          </a:xfrm>
          <a:prstGeom prst="rect">
            <a:avLst/>
          </a:prstGeom>
          <a:solidFill>
            <a:srgbClr val="1A3650"/>
          </a:solidFill>
          <a:ln>
            <a:noFill/>
          </a:ln>
        </p:spPr>
      </p:sp>
      <p:sp>
        <p:nvSpPr>
          <p:cNvPr id="9" name="slide-number"/>
          <p:cNvSpPr/>
          <p:nvPr/>
        </p:nvSpPr>
        <p:spPr>
          <a:xfrm>
            <a:off x="10287000" y="266700"/>
            <a:ext cx="1219200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950" b="1">
                <a:solidFill>
                  <a:srgbClr val="EAF7FF"/>
                </a:solidFill>
                <a:latin typeface="Aptos"/>
              </a:defRPr>
            </a:pPr>
            <a:r>
              <a:rPr sz="950" b="1">
                <a:solidFill>
                  <a:srgbClr val="EAF7FF"/>
                </a:solidFill>
                <a:latin typeface="Aptos"/>
              </a:rPr>
              <a:t>03 / 12</a:t>
            </a:r>
          </a:p>
        </p:txBody>
      </p:sp>
      <p:sp>
        <p:nvSpPr>
          <p:cNvPr id="10" name="logo-frame"/>
          <p:cNvSpPr/>
          <p:nvPr/>
        </p:nvSpPr>
        <p:spPr>
          <a:xfrm>
            <a:off x="10306050" y="590550"/>
            <a:ext cx="990600" cy="990600"/>
          </a:xfrm>
          <a:prstGeom prst="roundRect">
            <a:avLst>
              <a:gd name="adj" fmla="val 8000"/>
            </a:avLst>
          </a:prstGeom>
          <a:solidFill>
            <a:srgbClr val="0D2032"/>
          </a:solidFill>
          <a:ln w="9525">
            <a:solidFill>
              <a:srgbClr val="1A3650"/>
            </a:solidFill>
            <a:prstDash val="solid"/>
          </a:ln>
        </p:spPr>
      </p:sp>
      <p:pic>
        <p:nvPicPr>
          <p:cNvPr id="11" name="DCAM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0" y="714375"/>
            <a:ext cx="800100" cy="733425"/>
          </a:xfrm>
          <a:prstGeom prst="rect">
            <a:avLst/>
          </a:prstGeom>
        </p:spPr>
      </p:pic>
      <p:sp>
        <p:nvSpPr>
          <p:cNvPr id="12" name="site"/>
          <p:cNvSpPr/>
          <p:nvPr/>
        </p:nvSpPr>
        <p:spPr>
          <a:xfrm>
            <a:off x="685800" y="6286500"/>
            <a:ext cx="1905000" cy="1333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800" b="0">
                <a:solidFill>
                  <a:srgbClr val="8AA6B8"/>
                </a:solidFill>
                <a:latin typeface="Aptos"/>
              </a:defRPr>
            </a:pPr>
            <a:r>
              <a:rPr sz="800" b="0">
                <a:solidFill>
                  <a:srgbClr val="8AA6B8"/>
                </a:solidFill>
                <a:latin typeface="Aptos"/>
              </a:rPr>
              <a:t>dcamclasses.in</a:t>
            </a:r>
          </a:p>
        </p:txBody>
      </p:sp>
      <p:sp>
        <p:nvSpPr>
          <p:cNvPr id="13" name="footer"/>
          <p:cNvSpPr/>
          <p:nvPr/>
        </p:nvSpPr>
        <p:spPr>
          <a:xfrm>
            <a:off x="9334500" y="6286500"/>
            <a:ext cx="2171700" cy="1333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800" b="0">
                <a:solidFill>
                  <a:srgbClr val="8AA6B8"/>
                </a:solidFill>
                <a:latin typeface="Aptos"/>
              </a:defRPr>
            </a:pPr>
            <a:r>
              <a:rPr sz="800" b="0">
                <a:solidFill>
                  <a:srgbClr val="8AA6B8"/>
                </a:solidFill>
                <a:latin typeface="Aptos"/>
              </a:rPr>
              <a:t>Student Seminar Guide</a:t>
            </a:r>
          </a:p>
        </p:txBody>
      </p:sp>
      <p:sp>
        <p:nvSpPr>
          <p:cNvPr id="14" name="eyebrow"/>
          <p:cNvSpPr/>
          <p:nvPr/>
        </p:nvSpPr>
        <p:spPr>
          <a:xfrm>
            <a:off x="685800" y="266700"/>
            <a:ext cx="4000500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950" b="1">
                <a:solidFill>
                  <a:srgbClr val="73D8FF"/>
                </a:solidFill>
                <a:latin typeface="Aptos"/>
              </a:defRPr>
            </a:pPr>
            <a:r>
              <a:rPr sz="950" b="1">
                <a:solidFill>
                  <a:srgbClr val="73D8FF"/>
                </a:solidFill>
                <a:latin typeface="Aptos"/>
              </a:rPr>
              <a:t>REAL DCAM RESULTS</a:t>
            </a:r>
          </a:p>
        </p:txBody>
      </p:sp>
      <p:sp>
        <p:nvSpPr>
          <p:cNvPr id="15" name="title"/>
          <p:cNvSpPr/>
          <p:nvPr/>
        </p:nvSpPr>
        <p:spPr>
          <a:xfrm>
            <a:off x="781050" y="1066800"/>
            <a:ext cx="7239000" cy="7810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900" b="1">
                <a:solidFill>
                  <a:srgbClr val="F4FAFF"/>
                </a:solidFill>
                <a:latin typeface="Aptos"/>
              </a:defRPr>
            </a:pPr>
            <a:r>
              <a:rPr sz="2900" b="1">
                <a:solidFill>
                  <a:srgbClr val="F4FAFF"/>
                </a:solidFill>
                <a:latin typeface="Aptos"/>
              </a:rPr>
              <a:t>Students Like You Are Already</a:t>
            </a:r>
          </a:p>
          <a:p>
            <a:pPr algn="l">
              <a:defRPr sz="2900" b="1">
                <a:solidFill>
                  <a:srgbClr val="F4FAFF"/>
                </a:solidFill>
                <a:latin typeface="Aptos"/>
              </a:defRPr>
            </a:pPr>
            <a:r>
              <a:rPr sz="2900" b="1">
                <a:solidFill>
                  <a:srgbClr val="F4FAFF"/>
                </a:solidFill>
                <a:latin typeface="Aptos"/>
              </a:rPr>
              <a:t>Moving Ahead</a:t>
            </a:r>
          </a:p>
        </p:txBody>
      </p:sp>
      <p:sp>
        <p:nvSpPr>
          <p:cNvPr id="16" name="subtitle"/>
          <p:cNvSpPr/>
          <p:nvPr/>
        </p:nvSpPr>
        <p:spPr>
          <a:xfrm>
            <a:off x="781050" y="2171700"/>
            <a:ext cx="8096250" cy="419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400" b="0">
                <a:solidFill>
                  <a:srgbClr val="C8D8E4"/>
                </a:solidFill>
                <a:latin typeface="Aptos"/>
              </a:defRPr>
            </a:pPr>
            <a:r>
              <a:rPr sz="1400" b="0">
                <a:solidFill>
                  <a:srgbClr val="C8D8E4"/>
                </a:solidFill>
                <a:latin typeface="Aptos"/>
              </a:rPr>
              <a:t>Two DCAM students earned strong JEE Main 2026 scores. The same discipline, testing, and guidance can shape your preparation too.</a:t>
            </a:r>
          </a:p>
        </p:txBody>
      </p:sp>
      <p:sp>
        <p:nvSpPr>
          <p:cNvPr id="17" name="result-card"/>
          <p:cNvSpPr/>
          <p:nvPr/>
        </p:nvSpPr>
        <p:spPr>
          <a:xfrm>
            <a:off x="685800" y="2857500"/>
            <a:ext cx="5105400" cy="2819400"/>
          </a:xfrm>
          <a:prstGeom prst="roundRect">
            <a:avLst>
              <a:gd name="adj" fmla="val 8000"/>
            </a:avLst>
          </a:prstGeom>
          <a:solidFill>
            <a:srgbClr val="0C1D2E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18" name="result-accent"/>
          <p:cNvSpPr/>
          <p:nvPr/>
        </p:nvSpPr>
        <p:spPr>
          <a:xfrm>
            <a:off x="685800" y="2857500"/>
            <a:ext cx="5105400" cy="47625"/>
          </a:xfrm>
          <a:prstGeom prst="rect">
            <a:avLst/>
          </a:prstGeom>
          <a:solidFill>
            <a:srgbClr val="73D8FF"/>
          </a:solidFill>
          <a:ln>
            <a:noFill/>
          </a:ln>
        </p:spPr>
      </p:sp>
      <p:sp>
        <p:nvSpPr>
          <p:cNvPr id="19" name="student-name"/>
          <p:cNvSpPr/>
          <p:nvPr/>
        </p:nvSpPr>
        <p:spPr>
          <a:xfrm>
            <a:off x="914400" y="3105150"/>
            <a:ext cx="3143250" cy="2476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73D8FF"/>
                </a:solidFill>
                <a:latin typeface="Aptos"/>
              </a:defRPr>
            </a:pPr>
            <a:r>
              <a:rPr sz="1800" b="1">
                <a:solidFill>
                  <a:srgbClr val="73D8FF"/>
                </a:solidFill>
                <a:latin typeface="Aptos"/>
              </a:rPr>
              <a:t>LUVYA SURI</a:t>
            </a:r>
          </a:p>
        </p:txBody>
      </p:sp>
      <p:sp>
        <p:nvSpPr>
          <p:cNvPr id="20" name="score"/>
          <p:cNvSpPr/>
          <p:nvPr/>
        </p:nvSpPr>
        <p:spPr>
          <a:xfrm>
            <a:off x="914400" y="3600450"/>
            <a:ext cx="2095500" cy="4000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rPr sz="3000" b="1">
                <a:solidFill>
                  <a:srgbClr val="FFFFFF"/>
                </a:solidFill>
                <a:latin typeface="Aptos"/>
              </a:rPr>
              <a:t>93.911</a:t>
            </a:r>
          </a:p>
        </p:txBody>
      </p:sp>
      <p:sp>
        <p:nvSpPr>
          <p:cNvPr id="21" name="score-label"/>
          <p:cNvSpPr/>
          <p:nvPr/>
        </p:nvSpPr>
        <p:spPr>
          <a:xfrm>
            <a:off x="952500" y="4010025"/>
            <a:ext cx="17145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950" b="0">
                <a:solidFill>
                  <a:srgbClr val="CFE0EA"/>
                </a:solidFill>
                <a:latin typeface="Aptos"/>
              </a:defRPr>
            </a:pPr>
            <a:r>
              <a:rPr sz="950" b="0">
                <a:solidFill>
                  <a:srgbClr val="CFE0EA"/>
                </a:solidFill>
                <a:latin typeface="Aptos"/>
              </a:rPr>
              <a:t>Final NTA Score</a:t>
            </a:r>
          </a:p>
        </p:txBody>
      </p:sp>
      <p:sp>
        <p:nvSpPr>
          <p:cNvPr id="22" name="rank-label"/>
          <p:cNvSpPr/>
          <p:nvPr/>
        </p:nvSpPr>
        <p:spPr>
          <a:xfrm>
            <a:off x="3467100" y="3486150"/>
            <a:ext cx="142875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73D8FF"/>
                </a:solidFill>
                <a:latin typeface="Aptos"/>
              </a:defRPr>
            </a:pPr>
            <a:r>
              <a:rPr sz="1050" b="1">
                <a:solidFill>
                  <a:srgbClr val="73D8FF"/>
                </a:solidFill>
                <a:latin typeface="Aptos"/>
              </a:rPr>
              <a:t>AIR (CRL)</a:t>
            </a:r>
          </a:p>
        </p:txBody>
      </p:sp>
      <p:sp>
        <p:nvSpPr>
          <p:cNvPr id="23" name="rank"/>
          <p:cNvSpPr/>
          <p:nvPr/>
        </p:nvSpPr>
        <p:spPr>
          <a:xfrm>
            <a:off x="3467100" y="3771900"/>
            <a:ext cx="16192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rPr sz="2200" b="1">
                <a:solidFill>
                  <a:srgbClr val="FFFFFF"/>
                </a:solidFill>
                <a:latin typeface="Aptos"/>
              </a:rPr>
              <a:t>94,953</a:t>
            </a:r>
          </a:p>
        </p:txBody>
      </p:sp>
      <p:sp>
        <p:nvSpPr>
          <p:cNvPr id="24" name="eligible"/>
          <p:cNvSpPr/>
          <p:nvPr/>
        </p:nvSpPr>
        <p:spPr>
          <a:xfrm>
            <a:off x="3467100" y="4114800"/>
            <a:ext cx="2095500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150" b="1">
                <a:solidFill>
                  <a:srgbClr val="CDE0EA"/>
                </a:solidFill>
                <a:latin typeface="Aptos"/>
              </a:defRPr>
            </a:pPr>
            <a:r>
              <a:rPr sz="1150" b="1">
                <a:solidFill>
                  <a:srgbClr val="CDE0EA"/>
                </a:solidFill>
                <a:latin typeface="Aptos"/>
              </a:rPr>
              <a:t>Eligible for JEE Advanced</a:t>
            </a:r>
          </a:p>
        </p:txBody>
      </p:sp>
      <p:sp>
        <p:nvSpPr>
          <p:cNvPr id="25" name="score-image-frame"/>
          <p:cNvSpPr/>
          <p:nvPr/>
        </p:nvSpPr>
        <p:spPr>
          <a:xfrm>
            <a:off x="914400" y="4305300"/>
            <a:ext cx="4648200" cy="990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B9C7D0"/>
            </a:solidFill>
            <a:prstDash val="solid"/>
          </a:ln>
        </p:spPr>
      </p:sp>
      <p:pic>
        <p:nvPicPr>
          <p:cNvPr id="26" name="LUVYA SURI score tab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650" y="4419600"/>
            <a:ext cx="4457700" cy="742950"/>
          </a:xfrm>
          <a:prstGeom prst="rect">
            <a:avLst/>
          </a:prstGeom>
        </p:spPr>
      </p:pic>
      <p:sp>
        <p:nvSpPr>
          <p:cNvPr id="27" name="caption"/>
          <p:cNvSpPr/>
          <p:nvPr/>
        </p:nvSpPr>
        <p:spPr>
          <a:xfrm>
            <a:off x="914400" y="5410200"/>
            <a:ext cx="46482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820" b="0">
                <a:solidFill>
                  <a:srgbClr val="8FA6B8"/>
                </a:solidFill>
                <a:latin typeface="Aptos"/>
              </a:defRPr>
            </a:pPr>
            <a:r>
              <a:rPr sz="820" b="0">
                <a:solidFill>
                  <a:srgbClr val="8FA6B8"/>
                </a:solidFill>
                <a:latin typeface="Aptos"/>
              </a:rPr>
              <a:t>JEE Main 2026 Session 2 score table</a:t>
            </a:r>
          </a:p>
        </p:txBody>
      </p:sp>
      <p:sp>
        <p:nvSpPr>
          <p:cNvPr id="28" name="result-card"/>
          <p:cNvSpPr/>
          <p:nvPr/>
        </p:nvSpPr>
        <p:spPr>
          <a:xfrm>
            <a:off x="6400800" y="2857500"/>
            <a:ext cx="5105400" cy="2819400"/>
          </a:xfrm>
          <a:prstGeom prst="roundRect">
            <a:avLst>
              <a:gd name="adj" fmla="val 8000"/>
            </a:avLst>
          </a:prstGeom>
          <a:solidFill>
            <a:srgbClr val="0C1D2E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9" name="result-accent"/>
          <p:cNvSpPr/>
          <p:nvPr/>
        </p:nvSpPr>
        <p:spPr>
          <a:xfrm>
            <a:off x="6400800" y="2857500"/>
            <a:ext cx="5105400" cy="47625"/>
          </a:xfrm>
          <a:prstGeom prst="rect">
            <a:avLst/>
          </a:prstGeom>
          <a:solidFill>
            <a:srgbClr val="2F6CFF"/>
          </a:solidFill>
          <a:ln>
            <a:noFill/>
          </a:ln>
        </p:spPr>
      </p:sp>
      <p:sp>
        <p:nvSpPr>
          <p:cNvPr id="30" name="student-name"/>
          <p:cNvSpPr/>
          <p:nvPr/>
        </p:nvSpPr>
        <p:spPr>
          <a:xfrm>
            <a:off x="6629400" y="3105150"/>
            <a:ext cx="3143250" cy="2476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73D8FF"/>
                </a:solidFill>
                <a:latin typeface="Aptos"/>
              </a:defRPr>
            </a:pPr>
            <a:r>
              <a:rPr sz="1800" b="1">
                <a:solidFill>
                  <a:srgbClr val="73D8FF"/>
                </a:solidFill>
                <a:latin typeface="Aptos"/>
              </a:rPr>
              <a:t>ARCHISMAN CHAKRABARTI</a:t>
            </a:r>
          </a:p>
        </p:txBody>
      </p:sp>
      <p:sp>
        <p:nvSpPr>
          <p:cNvPr id="31" name="score"/>
          <p:cNvSpPr/>
          <p:nvPr/>
        </p:nvSpPr>
        <p:spPr>
          <a:xfrm>
            <a:off x="6629400" y="3600450"/>
            <a:ext cx="2095500" cy="4000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rPr sz="3000" b="1">
                <a:solidFill>
                  <a:srgbClr val="FFFFFF"/>
                </a:solidFill>
                <a:latin typeface="Aptos"/>
              </a:rPr>
              <a:t>95.700</a:t>
            </a:r>
          </a:p>
        </p:txBody>
      </p:sp>
      <p:sp>
        <p:nvSpPr>
          <p:cNvPr id="32" name="score-label"/>
          <p:cNvSpPr/>
          <p:nvPr/>
        </p:nvSpPr>
        <p:spPr>
          <a:xfrm>
            <a:off x="6667500" y="4010025"/>
            <a:ext cx="17145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950" b="0">
                <a:solidFill>
                  <a:srgbClr val="CFE0EA"/>
                </a:solidFill>
                <a:latin typeface="Aptos"/>
              </a:defRPr>
            </a:pPr>
            <a:r>
              <a:rPr sz="950" b="0">
                <a:solidFill>
                  <a:srgbClr val="CFE0EA"/>
                </a:solidFill>
                <a:latin typeface="Aptos"/>
              </a:rPr>
              <a:t>Final NTA Score</a:t>
            </a:r>
          </a:p>
        </p:txBody>
      </p:sp>
      <p:sp>
        <p:nvSpPr>
          <p:cNvPr id="33" name="rank-label"/>
          <p:cNvSpPr/>
          <p:nvPr/>
        </p:nvSpPr>
        <p:spPr>
          <a:xfrm>
            <a:off x="9182100" y="3486150"/>
            <a:ext cx="142875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73D8FF"/>
                </a:solidFill>
                <a:latin typeface="Aptos"/>
              </a:defRPr>
            </a:pPr>
            <a:r>
              <a:rPr sz="1050" b="1">
                <a:solidFill>
                  <a:srgbClr val="73D8FF"/>
                </a:solidFill>
                <a:latin typeface="Aptos"/>
              </a:rPr>
              <a:t>AIR (CRL)</a:t>
            </a:r>
          </a:p>
        </p:txBody>
      </p:sp>
      <p:sp>
        <p:nvSpPr>
          <p:cNvPr id="34" name="rank"/>
          <p:cNvSpPr/>
          <p:nvPr/>
        </p:nvSpPr>
        <p:spPr>
          <a:xfrm>
            <a:off x="9182100" y="3771900"/>
            <a:ext cx="16192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rPr sz="2200" b="1">
                <a:solidFill>
                  <a:srgbClr val="FFFFFF"/>
                </a:solidFill>
                <a:latin typeface="Aptos"/>
              </a:rPr>
              <a:t>67,680</a:t>
            </a:r>
          </a:p>
        </p:txBody>
      </p:sp>
      <p:sp>
        <p:nvSpPr>
          <p:cNvPr id="35" name="eligible"/>
          <p:cNvSpPr/>
          <p:nvPr/>
        </p:nvSpPr>
        <p:spPr>
          <a:xfrm>
            <a:off x="9182100" y="4114800"/>
            <a:ext cx="2095500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150" b="1">
                <a:solidFill>
                  <a:srgbClr val="CDE0EA"/>
                </a:solidFill>
                <a:latin typeface="Aptos"/>
              </a:defRPr>
            </a:pPr>
            <a:r>
              <a:rPr sz="1150" b="1">
                <a:solidFill>
                  <a:srgbClr val="CDE0EA"/>
                </a:solidFill>
                <a:latin typeface="Aptos"/>
              </a:rPr>
              <a:t>Eligible for JEE Advanced</a:t>
            </a:r>
          </a:p>
        </p:txBody>
      </p:sp>
      <p:sp>
        <p:nvSpPr>
          <p:cNvPr id="36" name="score-image-frame"/>
          <p:cNvSpPr/>
          <p:nvPr/>
        </p:nvSpPr>
        <p:spPr>
          <a:xfrm>
            <a:off x="6629400" y="4305300"/>
            <a:ext cx="4648200" cy="990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B9C7D0"/>
            </a:solidFill>
            <a:prstDash val="solid"/>
          </a:ln>
        </p:spPr>
      </p:sp>
      <p:pic>
        <p:nvPicPr>
          <p:cNvPr id="37" name="ARCHISMAN CHAKRABARTI score tab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650" y="4419600"/>
            <a:ext cx="4457700" cy="742950"/>
          </a:xfrm>
          <a:prstGeom prst="rect">
            <a:avLst/>
          </a:prstGeom>
        </p:spPr>
      </p:pic>
      <p:sp>
        <p:nvSpPr>
          <p:cNvPr id="38" name="caption"/>
          <p:cNvSpPr/>
          <p:nvPr/>
        </p:nvSpPr>
        <p:spPr>
          <a:xfrm>
            <a:off x="6629400" y="5410200"/>
            <a:ext cx="46482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820" b="0">
                <a:solidFill>
                  <a:srgbClr val="8FA6B8"/>
                </a:solidFill>
                <a:latin typeface="Aptos"/>
              </a:defRPr>
            </a:pPr>
            <a:r>
              <a:rPr sz="820" b="0">
                <a:solidFill>
                  <a:srgbClr val="8FA6B8"/>
                </a:solidFill>
                <a:latin typeface="Aptos"/>
              </a:rPr>
              <a:t>JEE Main 2026 Session 2 score table</a:t>
            </a:r>
          </a:p>
        </p:txBody>
      </p:sp>
      <p:sp>
        <p:nvSpPr>
          <p:cNvPr id="39" name="note-box"/>
          <p:cNvSpPr/>
          <p:nvPr/>
        </p:nvSpPr>
        <p:spPr>
          <a:xfrm>
            <a:off x="685800" y="5791200"/>
            <a:ext cx="10820400" cy="285750"/>
          </a:xfrm>
          <a:prstGeom prst="roundRect">
            <a:avLst>
              <a:gd name="adj" fmla="val 8000"/>
            </a:avLst>
          </a:prstGeom>
          <a:solidFill>
            <a:srgbClr val="0A1824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40" name="note"/>
          <p:cNvSpPr/>
          <p:nvPr/>
        </p:nvSpPr>
        <p:spPr>
          <a:xfrm>
            <a:off x="857250" y="5876925"/>
            <a:ext cx="10477500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850" b="0">
                <a:solidFill>
                  <a:srgbClr val="B8CAD7"/>
                </a:solidFill>
                <a:latin typeface="Aptos"/>
              </a:defRPr>
            </a:pPr>
            <a:r>
              <a:rPr sz="850" b="0">
                <a:solidFill>
                  <a:srgbClr val="B8CAD7"/>
                </a:solidFill>
                <a:latin typeface="Aptos"/>
              </a:rPr>
              <a:t>JEE Main 2026 result screenshots from students studying at DCAM Classes, shown in a readable score format.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1068</ns0:Words>
  <ns0:Application>Microsoft Office PowerPoint</ns0:Application>
  <ns0:DocSecurity>0</ns0:DocSecurity>
  <ns0:PresentationFormat>Widescreen</ns0:PresentationFormat>
  <ns0:Paragraphs>280</ns0:Paragraphs>
  <ns0:Slides>12</ns0:Slides>
  <ns0:Notes>10</ns0:Notes>
  <ns0:HiddenSlides>12</ns0:HiddenSlides>
  <ns0:MMClips>0</ns0:MMClips>
  <ns0:ScaleCrop>false</ns0:ScaleCrop>
  <ns0:HeadingPairs>
    <ns1:vector size="6" baseType="variant">
      <ns1:variant>
        <ns1:lpstr>Fonts Used</ns1:lpstr>
      </ns1:variant>
      <ns1:variant>
        <ns1:i4>1</ns1:i4>
      </ns1:variant>
      <ns1:variant>
        <ns1:lpstr>Theme</ns1:lpstr>
      </ns1:variant>
      <ns1:variant>
        <ns1:i4>1</ns1:i4>
      </ns1:variant>
      <ns1:variant>
        <ns1:lpstr>Slide Titles</ns1:lpstr>
      </ns1:variant>
      <ns1:variant>
        <ns1:i4>10</ns1:i4>
      </ns1:variant>
    </ns1:vector>
  </ns0:HeadingPairs>
  <ns0:TitlesOfParts>
    <ns1:vector size="12" baseType="lpstr">
      <ns1:lpstr>Calibri</ns1:lpstr>
      <ns1:lpstr>ChatGPT</ns1:lpstr>
      <ns1:lpstr>PowerPoint Presentation</ns1:lpstr>
      <ns1:lpstr>PowerPoint Presentation</ns1:lpstr>
      <ns1:lpstr>PowerPoint Presentation</ns1:lpstr>
      <ns1:lpstr>PowerPoint Presentation</ns1:lpstr>
      <ns1:lpstr>PowerPoint Presentation</ns1:lpstr>
      <ns1:lpstr>PowerPoint Presentation</ns1:lpstr>
      <ns1:lpstr>PowerPoint Presentation</ns1:lpstr>
      <ns1:lpstr>PowerPoint Presentation</ns1:lpstr>
      <ns1:lpstr>PowerPoint Presentation</ns1:lpstr>
      <ns1:lpstr>PowerPoint Presentation</ns1:lpstr>
    </ns1:vector>
  </ns0:TitlesOfParts>
  <ns0:LinksUpToDate>false</ns0:LinksUpToDate>
  <ns0:SharedDoc>false</ns0:SharedDoc>
  <ns0:HyperlinksChanged>false</ns0:HyperlinksChanged>
  <ns0:AppVersion>16.0000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Ajay Bhatnagar</cp:lastModifiedBy>
  <cp:revision>1</cp:revision>
  <dcterms:created xsi:type="dcterms:W3CDTF">2026-04-22T13:14:23Z</dcterms:created>
  <dcterms:modified xsi:type="dcterms:W3CDTF">2026-04-22T13:14:53Z</dcterms:modified>
</cp:coreProperties>
</file>